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I'm going to share the story of how I built an interactive web map to track our journey to eat at a restaurant in every single one of New Jersey's 564 municipalities — and what I learned along the way about AI-assisted development with GitHub Copilot.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stage. Explain the challenge: we want to eat at a restaurant in every single municipality in NJ. 564 is a LOT. We needed a way to track progress visually, not just rows in a spreadsheet.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vision was simple: instead of a spreadsheet, build an interactive map where you can see every town coloured by status and click for details. Something you can share with people and they'll actually explore.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tech stack. Emphasize the simplicity: no React, no database, no server. Everything is a static file served from GitHub. Data changes are Git commits. This is intentional — low maintenance.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three ingredients: a mapping library (Leaflet), map tiles (OpenStreetMap — free), and boundary polygons (GeoJSON from Census). The GEOID is the magic key that joins geographic shapes to our data.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data model. Show a sample JSON entry. Emphasize: GEOID-based keys eliminate name ambiguity (there are multiple 'Washington' towns). The links array is flexible — any platform, any category.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important architecture lesson. We started with Firebase because it seemed 'proper' — but we only update data weekly. A static JSON file committed to Git is simpler, cheaper, and gives version history.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Excel workflow. The Python script generates a rich Excel template with formulas, colour coding, and summary sheets. Edit in Excel for bulk operations, then import back. The CSV parser is robust — handles quoted fields, preserves orphaned data.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bulk import scripts pull social media posts and match them to towns by visit number. Thumbnails are fetched from Instagram and auto-committed by GitHub Actions when a new PostFox export is pushed.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Interesting edge cases we hit. The ambiguous names problem was subtle — multiple towns share the same name in different counties. Schema migration shows how data models evolve. The SRI hash issue was a fun debugging exercise.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 story. The second commit in the repo is literally called 'initial set of vibe coded files'. Copilot's Agent mode generated the entire first version of the map. It worked! Not perfectly, but it was a functional prototype that we could iterate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lesson: knowing which mode to use when. Plan mode is great for big-picture decisions. Agent mode is the workhorse. Ask mode is your rubber duck. The best workflow chains them together.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about the challenges. VS Code crashes were the most painful — losing an entire conversation with context and decisions. The context window limit is real: after ~30 minutes of back-and-forth, quality drops. Our workaround: shorter sessions, commit often, use memory files.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Practical tips from real experience. The memory files tip is huge — it gives Copilot persistent context about your project. Being specific with prompts is the single biggest quality lever. And always review the code.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project timeline using commit history milestones. Each step built on the previous one. Emphasize: this wasn't planned up front — it evolved organically based on needs.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retrospective. The data model evolved twice — getting it right first would have saved a migration. The Excel pipeline was a late addition that would have been valuable from the start. TypeScript would give Copilot better type context for suggestions.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 slide with project stats. Update the [X] placeholders with real numbers before presenting. The zero-cost angle is compelling — this entire project runs for free on GitHub Pages.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audience. Open up for questions. Share the GitHub link and live map URL for anyone who wants to explore.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5181447" y="548640"/>
            <a:ext cx="1828800" cy="1828800"/>
          </a:xfrm>
          <a:prstGeom prst="rect">
            <a:avLst/>
          </a:prstGeom>
        </p:spPr>
      </p:pic>
      <p:sp>
        <p:nvSpPr>
          <p:cNvPr id="3" name="TextBox 2"/>
          <p:cNvSpPr txBox="1"/>
          <p:nvPr/>
        </p:nvSpPr>
        <p:spPr>
          <a:xfrm>
            <a:off x="914400" y="2743200"/>
            <a:ext cx="10332720" cy="1097280"/>
          </a:xfrm>
          <a:prstGeom prst="rect">
            <a:avLst/>
          </a:prstGeom>
          <a:noFill/>
        </p:spPr>
        <p:txBody>
          <a:bodyPr wrap="square">
            <a:spAutoFit/>
          </a:bodyPr>
          <a:lstStyle/>
          <a:p>
            <a:pPr algn="ctr">
              <a:defRPr sz="3600" b="1">
                <a:solidFill>
                  <a:srgbClr val="FFFFFF"/>
                </a:solidFill>
                <a:latin typeface="Calibri"/>
              </a:defRPr>
            </a:pPr>
            <a:r>
              <a:t>Building an Interactive Map to</a:t>
            </a:r>
            <a:br/>
            <a:r>
              <a:t>Eat Our Way Through New Jersey</a:t>
            </a:r>
          </a:p>
        </p:txBody>
      </p:sp>
      <p:sp>
        <p:nvSpPr>
          <p:cNvPr id="4" name="TextBox 3"/>
          <p:cNvSpPr txBox="1"/>
          <p:nvPr/>
        </p:nvSpPr>
        <p:spPr>
          <a:xfrm>
            <a:off x="914400" y="4114800"/>
            <a:ext cx="10332720" cy="457200"/>
          </a:xfrm>
          <a:prstGeom prst="rect">
            <a:avLst/>
          </a:prstGeom>
          <a:noFill/>
        </p:spPr>
        <p:txBody>
          <a:bodyPr wrap="square">
            <a:spAutoFit/>
          </a:bodyPr>
          <a:lstStyle/>
          <a:p>
            <a:pPr algn="ctr">
              <a:defRPr sz="1800" b="0">
                <a:solidFill>
                  <a:srgbClr val="FFD700"/>
                </a:solidFill>
                <a:latin typeface="Calibri"/>
              </a:defRPr>
            </a:pPr>
            <a:r>
              <a:t>A journey through 564 municipalities — one meal at a time</a:t>
            </a:r>
          </a:p>
        </p:txBody>
      </p:sp>
      <p:sp>
        <p:nvSpPr>
          <p:cNvPr id="5" name="TextBox 4"/>
          <p:cNvSpPr txBox="1"/>
          <p:nvPr/>
        </p:nvSpPr>
        <p:spPr>
          <a:xfrm>
            <a:off x="914400" y="5029200"/>
            <a:ext cx="10332720" cy="457200"/>
          </a:xfrm>
          <a:prstGeom prst="rect">
            <a:avLst/>
          </a:prstGeom>
          <a:noFill/>
        </p:spPr>
        <p:txBody>
          <a:bodyPr wrap="square">
            <a:spAutoFit/>
          </a:bodyPr>
          <a:lstStyle/>
          <a:p>
            <a:pPr algn="ctr">
              <a:defRPr sz="1400" b="0">
                <a:solidFill>
                  <a:srgbClr val="E0E0E0"/>
                </a:solidFill>
                <a:latin typeface="Calibri"/>
              </a:defRPr>
            </a:pPr>
            <a:r>
              <a:t>Lessons learned building with GitHub Copilot, Leaflet, and vanilla JavaScript</a:t>
            </a:r>
          </a:p>
        </p:txBody>
      </p:sp>
      <p:sp>
        <p:nvSpPr>
          <p:cNvPr id="6" name="TextBox 5"/>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1 / 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What is the Eat Jersey Challenge?</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THE VISION</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a:solidFill>
                  <a:srgbClr val="FFFFFF"/>
                </a:solidFill>
                <a:latin typeface="Calibri"/>
              </a:rPr>
              <a:t>  •  Visit a restaurant in every one of New Jersey's 564 municipalities</a:t>
            </a:r>
          </a:p>
          <a:p>
            <a:pPr>
              <a:spcAft>
                <a:spcPts val="600"/>
              </a:spcAft>
            </a:pPr>
            <a:r>
              <a:rPr sz="1600">
                <a:solidFill>
                  <a:srgbClr val="FFFFFF"/>
                </a:solidFill>
                <a:latin typeface="Calibri"/>
              </a:rPr>
              <a:t>  •  Share each visit on Instagram, TikTok, and Facebook</a:t>
            </a:r>
          </a:p>
          <a:p>
            <a:pPr>
              <a:spcAft>
                <a:spcPts val="600"/>
              </a:spcAft>
            </a:pPr>
            <a:r>
              <a:rPr sz="1600">
                <a:solidFill>
                  <a:srgbClr val="FFFFFF"/>
                </a:solidFill>
                <a:latin typeface="Calibri"/>
              </a:rPr>
              <a:t>  •  Document the journey — every borough, city, township, town, and village</a:t>
            </a:r>
          </a:p>
          <a:p>
            <a:pPr>
              <a:spcAft>
                <a:spcPts val="600"/>
              </a:spcAft>
            </a:pPr>
            <a:r>
              <a:rPr sz="1600">
                <a:solidFill>
                  <a:srgbClr val="FFFFFF"/>
                </a:solidFill>
                <a:latin typeface="Calibri"/>
              </a:rPr>
              <a:t>  •  564 towns across 21 counties — a massive undertaking</a:t>
            </a:r>
          </a:p>
          <a:p>
            <a:pPr>
              <a:spcAft>
                <a:spcPts val="600"/>
              </a:spcAft>
            </a:pPr>
            <a:r>
              <a:rPr sz="1600">
                <a:solidFill>
                  <a:srgbClr val="FFFFFF"/>
                </a:solidFill>
                <a:latin typeface="Calibri"/>
              </a:rPr>
              <a:t>  •  Started with a spreadsheet… but we needed something better</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2 / 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The Vision: An Interactive Map</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THE VISION</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b="1">
                <a:solidFill>
                  <a:srgbClr val="FFD700"/>
                </a:solidFill>
                <a:latin typeface="Calibri"/>
              </a:rPr>
              <a:t>Colour-coded map:</a:t>
            </a:r>
            <a:r>
              <a:rPr sz="1600">
                <a:solidFill>
                  <a:srgbClr val="FFFFFF"/>
                </a:solidFill>
                <a:latin typeface="Calibri"/>
              </a:rPr>
              <a:t> gold = visited, grey = unvisited, orange = queued</a:t>
            </a:r>
          </a:p>
          <a:p>
            <a:pPr>
              <a:spcAft>
                <a:spcPts val="600"/>
              </a:spcAft>
            </a:pPr>
            <a:r>
              <a:rPr sz="1600">
                <a:solidFill>
                  <a:srgbClr val="FFFFFF"/>
                </a:solidFill>
                <a:latin typeface="Calibri"/>
              </a:rPr>
              <a:t>  •  Click any town to see restaurant, date, photos, and social links</a:t>
            </a:r>
          </a:p>
          <a:p>
            <a:pPr>
              <a:spcAft>
                <a:spcPts val="600"/>
              </a:spcAft>
            </a:pPr>
            <a:r>
              <a:rPr sz="1600">
                <a:solidFill>
                  <a:srgbClr val="FFFFFF"/>
                </a:solidFill>
                <a:latin typeface="Calibri"/>
              </a:rPr>
              <a:t>  •  Show progress at a glance — how much of NJ have we covered?</a:t>
            </a:r>
          </a:p>
          <a:p>
            <a:pPr>
              <a:spcAft>
                <a:spcPts val="600"/>
              </a:spcAft>
            </a:pPr>
            <a:r>
              <a:rPr sz="1600">
                <a:solidFill>
                  <a:srgbClr val="FFFFFF"/>
                </a:solidFill>
                <a:latin typeface="Calibri"/>
              </a:rPr>
              <a:t>  •  Share it publicly so friends and followers can explore</a:t>
            </a:r>
          </a:p>
          <a:p>
            <a:pPr>
              <a:spcAft>
                <a:spcPts val="600"/>
              </a:spcAft>
            </a:pPr>
            <a:r>
              <a:rPr sz="1600">
                <a:solidFill>
                  <a:srgbClr val="FFFFFF"/>
                </a:solidFill>
                <a:latin typeface="Calibri"/>
              </a:rPr>
              <a:t>  •  Replace the spreadsheet with something people actually want to look at</a:t>
            </a:r>
          </a:p>
        </p:txBody>
      </p:sp>
      <p:sp>
        <p:nvSpPr>
          <p:cNvPr id="7" name="Rectangle 6"/>
          <p:cNvSpPr/>
          <p:nvPr/>
        </p:nvSpPr>
        <p:spPr>
          <a:xfrm>
            <a:off x="2286000" y="3657600"/>
            <a:ext cx="7589520" cy="2743200"/>
          </a:xfrm>
          <a:prstGeom prst="rect">
            <a:avLst/>
          </a:prstGeom>
          <a:solidFill>
            <a:srgbClr val="2A2A3E"/>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pPr>
            <a:r>
              <a:rPr sz="1400" i="1">
                <a:solidFill>
                  <a:srgbClr val="999999"/>
                </a:solidFill>
                <a:latin typeface="Calibri"/>
              </a:rPr>
              <a:t>[ Screenshot: Live map with visited/unvisited towns ]</a:t>
            </a:r>
          </a:p>
        </p:txBody>
      </p:sp>
      <p:sp>
        <p:nvSpPr>
          <p:cNvPr id="8" name="TextBox 7"/>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3 /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Technology Stack</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TECHNOLOGY CHOICES</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b="1">
                <a:solidFill>
                  <a:srgbClr val="FFD700"/>
                </a:solidFill>
                <a:latin typeface="Calibri"/>
              </a:rPr>
              <a:t>Frontend:</a:t>
            </a:r>
            <a:r>
              <a:rPr sz="1600">
                <a:solidFill>
                  <a:srgbClr val="FFFFFF"/>
                </a:solidFill>
                <a:latin typeface="Calibri"/>
              </a:rPr>
              <a:t> Vanilla JavaScript — zero frameworks, zero build tools</a:t>
            </a:r>
          </a:p>
          <a:p>
            <a:pPr>
              <a:spcAft>
                <a:spcPts val="600"/>
              </a:spcAft>
            </a:pPr>
            <a:r>
              <a:rPr sz="1600" b="1">
                <a:solidFill>
                  <a:srgbClr val="FFD700"/>
                </a:solidFill>
                <a:latin typeface="Calibri"/>
              </a:rPr>
              <a:t>Mapping:</a:t>
            </a:r>
            <a:r>
              <a:rPr sz="1600">
                <a:solidFill>
                  <a:srgbClr val="FFFFFF"/>
                </a:solidFill>
                <a:latin typeface="Calibri"/>
              </a:rPr>
              <a:t> Leaflet.js + OpenStreetMap tiles — free and open source</a:t>
            </a:r>
          </a:p>
          <a:p>
            <a:pPr>
              <a:spcAft>
                <a:spcPts val="600"/>
              </a:spcAft>
            </a:pPr>
            <a:r>
              <a:rPr sz="1600" b="1">
                <a:solidFill>
                  <a:srgbClr val="FFD700"/>
                </a:solidFill>
                <a:latin typeface="Calibri"/>
              </a:rPr>
              <a:t>Data:</a:t>
            </a:r>
            <a:r>
              <a:rPr sz="1600">
                <a:solidFill>
                  <a:srgbClr val="FFFFFF"/>
                </a:solidFill>
                <a:latin typeface="Calibri"/>
              </a:rPr>
              <a:t> Static JSON file committed to Git — no database needed</a:t>
            </a:r>
          </a:p>
          <a:p>
            <a:pPr>
              <a:spcAft>
                <a:spcPts val="600"/>
              </a:spcAft>
            </a:pPr>
            <a:r>
              <a:rPr sz="1600" b="1">
                <a:solidFill>
                  <a:srgbClr val="FFD700"/>
                </a:solidFill>
                <a:latin typeface="Calibri"/>
              </a:rPr>
              <a:t>Hosting:</a:t>
            </a:r>
            <a:r>
              <a:rPr sz="1600">
                <a:solidFill>
                  <a:srgbClr val="FFFFFF"/>
                </a:solidFill>
                <a:latin typeface="Calibri"/>
              </a:rPr>
              <a:t> GitHub Pages — free, automatic deployment on push</a:t>
            </a:r>
          </a:p>
          <a:p>
            <a:pPr>
              <a:spcAft>
                <a:spcPts val="600"/>
              </a:spcAft>
            </a:pPr>
            <a:r>
              <a:rPr sz="1600" b="1">
                <a:solidFill>
                  <a:srgbClr val="FFD700"/>
                </a:solidFill>
                <a:latin typeface="Calibri"/>
              </a:rPr>
              <a:t>Scripts:</a:t>
            </a:r>
            <a:r>
              <a:rPr sz="1600">
                <a:solidFill>
                  <a:srgbClr val="FFFFFF"/>
                </a:solidFill>
                <a:latin typeface="Calibri"/>
              </a:rPr>
              <a:t> Node.js + Python for data import and automation</a:t>
            </a:r>
          </a:p>
          <a:p>
            <a:pPr>
              <a:spcAft>
                <a:spcPts val="600"/>
              </a:spcAft>
            </a:pPr>
            <a:r>
              <a:rPr sz="1600" b="1">
                <a:solidFill>
                  <a:srgbClr val="FFD700"/>
                </a:solidFill>
                <a:latin typeface="Calibri"/>
              </a:rPr>
              <a:t>CI/CD:</a:t>
            </a:r>
            <a:r>
              <a:rPr sz="1600">
                <a:solidFill>
                  <a:srgbClr val="FFFFFF"/>
                </a:solidFill>
                <a:latin typeface="Calibri"/>
              </a:rPr>
              <a:t> GitHub Actions for automated thumbnail fetching</a:t>
            </a:r>
          </a:p>
          <a:p>
            <a:pPr>
              <a:spcAft>
                <a:spcPts val="600"/>
              </a:spcAft>
            </a:pPr>
            <a:r>
              <a:rPr sz="1600">
                <a:solidFill>
                  <a:srgbClr val="FFFFFF"/>
                </a:solidFill>
                <a:latin typeface="Calibri"/>
              </a:rPr>
              <a:t>  •  Why static? Low maintenance, version-controlled data, no backend costs</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4 /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How to Make a Map</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TECHNOLOGY CHOICES</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b="1">
                <a:solidFill>
                  <a:srgbClr val="FFD700"/>
                </a:solidFill>
                <a:latin typeface="Calibri"/>
              </a:rPr>
              <a:t>Leaflet.js:</a:t>
            </a:r>
            <a:r>
              <a:rPr sz="1600">
                <a:solidFill>
                  <a:srgbClr val="FFFFFF"/>
                </a:solidFill>
                <a:latin typeface="Calibri"/>
              </a:rPr>
              <a:t> lightweight open-source mapping library</a:t>
            </a:r>
          </a:p>
          <a:p>
            <a:pPr>
              <a:spcAft>
                <a:spcPts val="600"/>
              </a:spcAft>
            </a:pPr>
            <a:r>
              <a:rPr sz="1600" b="1">
                <a:solidFill>
                  <a:srgbClr val="FFD700"/>
                </a:solidFill>
                <a:latin typeface="Calibri"/>
              </a:rPr>
              <a:t>OpenStreetMap tiles:</a:t>
            </a:r>
            <a:r>
              <a:rPr sz="1600">
                <a:solidFill>
                  <a:srgbClr val="FFFFFF"/>
                </a:solidFill>
                <a:latin typeface="Calibri"/>
              </a:rPr>
              <a:t> free map imagery, no API key required</a:t>
            </a:r>
          </a:p>
          <a:p>
            <a:pPr>
              <a:spcAft>
                <a:spcPts val="600"/>
              </a:spcAft>
            </a:pPr>
            <a:r>
              <a:rPr sz="1600" b="1">
                <a:solidFill>
                  <a:srgbClr val="FFD700"/>
                </a:solidFill>
                <a:latin typeface="Calibri"/>
              </a:rPr>
              <a:t>GeoJSON:</a:t>
            </a:r>
            <a:r>
              <a:rPr sz="1600">
                <a:solidFill>
                  <a:srgbClr val="FFFFFF"/>
                </a:solidFill>
                <a:latin typeface="Calibri"/>
              </a:rPr>
              <a:t> NJ municipality boundary polygons from US Census Bureau</a:t>
            </a:r>
          </a:p>
          <a:p>
            <a:pPr>
              <a:spcAft>
                <a:spcPts val="600"/>
              </a:spcAft>
            </a:pPr>
            <a:r>
              <a:rPr sz="1600">
                <a:solidFill>
                  <a:srgbClr val="FFFFFF"/>
                </a:solidFill>
                <a:latin typeface="Calibri"/>
              </a:rPr>
              <a:t>  •  Each polygon keyed by GEOID — a unique 10-digit Census identifier</a:t>
            </a:r>
          </a:p>
          <a:p>
            <a:pPr>
              <a:spcAft>
                <a:spcPts val="600"/>
              </a:spcAft>
            </a:pPr>
            <a:r>
              <a:rPr sz="1600">
                <a:solidFill>
                  <a:srgbClr val="FFFFFF"/>
                </a:solidFill>
                <a:latin typeface="Calibri"/>
              </a:rPr>
              <a:t>  •  Colour each polygon based on visit status from our JSON data</a:t>
            </a:r>
          </a:p>
          <a:p>
            <a:pPr>
              <a:spcAft>
                <a:spcPts val="600"/>
              </a:spcAft>
            </a:pPr>
            <a:r>
              <a:rPr sz="1600">
                <a:solidFill>
                  <a:srgbClr val="FFFFFF"/>
                </a:solidFill>
                <a:latin typeface="Calibri"/>
              </a:rPr>
              <a:t>  •  Add click handlers to open rich popups with town details</a:t>
            </a:r>
          </a:p>
        </p:txBody>
      </p:sp>
      <p:sp>
        <p:nvSpPr>
          <p:cNvPr id="7" name="Rectangle 6"/>
          <p:cNvSpPr/>
          <p:nvPr/>
        </p:nvSpPr>
        <p:spPr>
          <a:xfrm>
            <a:off x="2286000" y="3657600"/>
            <a:ext cx="7589520" cy="2743200"/>
          </a:xfrm>
          <a:prstGeom prst="rect">
            <a:avLst/>
          </a:prstGeom>
          <a:solidFill>
            <a:srgbClr val="2A2A3E"/>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pPr>
            <a:r>
              <a:rPr sz="1400" i="1">
                <a:solidFill>
                  <a:srgbClr val="999999"/>
                </a:solidFill>
                <a:latin typeface="Calibri"/>
              </a:rPr>
              <a:t>[ Diagram: Leaflet + OSM Tiles + GeoJSON = Interactive Map ]</a:t>
            </a:r>
          </a:p>
        </p:txBody>
      </p:sp>
      <p:sp>
        <p:nvSpPr>
          <p:cNvPr id="8" name="TextBox 7"/>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5 / 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The Data Model</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TECHNOLOGY CHOICES</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b="1">
                <a:solidFill>
                  <a:srgbClr val="FFD700"/>
                </a:solidFill>
                <a:latin typeface="Calibri"/>
              </a:rPr>
              <a:t>municipalities.json:</a:t>
            </a:r>
            <a:r>
              <a:rPr sz="1600">
                <a:solidFill>
                  <a:srgbClr val="FFFFFF"/>
                </a:solidFill>
                <a:latin typeface="Calibri"/>
              </a:rPr>
              <a:t> flat object keyed by 10-digit GEOID</a:t>
            </a:r>
          </a:p>
          <a:p>
            <a:pPr>
              <a:spcAft>
                <a:spcPts val="600"/>
              </a:spcAft>
            </a:pPr>
            <a:r>
              <a:rPr sz="1600" b="1">
                <a:solidFill>
                  <a:srgbClr val="FFD700"/>
                </a:solidFill>
                <a:latin typeface="Calibri"/>
              </a:rPr>
              <a:t>Each entry:</a:t>
            </a:r>
            <a:r>
              <a:rPr sz="1600">
                <a:solidFill>
                  <a:srgbClr val="FFFFFF"/>
                </a:solidFill>
                <a:latin typeface="Calibri"/>
              </a:rPr>
              <a:t> name, county, townType, status, visitNumber</a:t>
            </a:r>
          </a:p>
          <a:p>
            <a:pPr>
              <a:spcAft>
                <a:spcPts val="600"/>
              </a:spcAft>
            </a:pPr>
            <a:r>
              <a:rPr sz="1600" b="1">
                <a:solidFill>
                  <a:srgbClr val="FFD700"/>
                </a:solidFill>
                <a:latin typeface="Calibri"/>
              </a:rPr>
              <a:t>Restaurant info:</a:t>
            </a:r>
            <a:r>
              <a:rPr sz="1600">
                <a:solidFill>
                  <a:srgbClr val="FFFFFF"/>
                </a:solidFill>
                <a:latin typeface="Calibri"/>
              </a:rPr>
              <a:t> restaurantName, dateVisited</a:t>
            </a:r>
          </a:p>
          <a:p>
            <a:pPr>
              <a:spcAft>
                <a:spcPts val="600"/>
              </a:spcAft>
            </a:pPr>
            <a:r>
              <a:rPr sz="1600" b="1">
                <a:solidFill>
                  <a:srgbClr val="FFD700"/>
                </a:solidFill>
                <a:latin typeface="Calibri"/>
              </a:rPr>
              <a:t>Links array:</a:t>
            </a:r>
            <a:r>
              <a:rPr sz="1600">
                <a:solidFill>
                  <a:srgbClr val="FFFFFF"/>
                </a:solidFill>
                <a:latin typeface="Calibri"/>
              </a:rPr>
              <a:t> [{category, platform, label, url}] — flexible &amp; extensible</a:t>
            </a:r>
          </a:p>
          <a:p>
            <a:pPr>
              <a:spcAft>
                <a:spcPts val="600"/>
              </a:spcAft>
            </a:pPr>
            <a:r>
              <a:rPr sz="1600" b="1">
                <a:solidFill>
                  <a:srgbClr val="FFD700"/>
                </a:solidFill>
                <a:latin typeface="Calibri"/>
              </a:rPr>
              <a:t>Status values:</a:t>
            </a:r>
            <a:r>
              <a:rPr sz="1600">
                <a:solidFill>
                  <a:srgbClr val="FFFFFF"/>
                </a:solidFill>
                <a:latin typeface="Calibri"/>
              </a:rPr>
              <a:t> visited | unvisited | queued | pre-challenge</a:t>
            </a:r>
          </a:p>
          <a:p>
            <a:pPr>
              <a:spcAft>
                <a:spcPts val="600"/>
              </a:spcAft>
            </a:pPr>
            <a:r>
              <a:rPr sz="1600">
                <a:solidFill>
                  <a:srgbClr val="FFFFFF"/>
                </a:solidFill>
                <a:latin typeface="Calibri"/>
              </a:rPr>
              <a:t>  •  Schema evolved from simple boolean 'visited' to rich multi-status model</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6 / 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From Firebase to Static JSON</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TECHNOLOGY CHOICES</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a:solidFill>
                  <a:srgbClr val="FFFFFF"/>
                </a:solidFill>
                <a:latin typeface="Calibri"/>
              </a:rPr>
              <a:t>  •  Originally started with Firebase Firestore as the database</a:t>
            </a:r>
          </a:p>
          <a:p>
            <a:pPr>
              <a:spcAft>
                <a:spcPts val="600"/>
              </a:spcAft>
            </a:pPr>
            <a:r>
              <a:rPr sz="1600" b="1">
                <a:solidFill>
                  <a:srgbClr val="FFD700"/>
                </a:solidFill>
                <a:latin typeface="Calibri"/>
              </a:rPr>
              <a:t>Realized:</a:t>
            </a:r>
            <a:r>
              <a:rPr sz="1600">
                <a:solidFill>
                  <a:srgbClr val="FFFFFF"/>
                </a:solidFill>
                <a:latin typeface="Calibri"/>
              </a:rPr>
              <a:t> the data only changes when WE update it — no real-time needed</a:t>
            </a:r>
          </a:p>
          <a:p>
            <a:pPr>
              <a:spcAft>
                <a:spcPts val="600"/>
              </a:spcAft>
            </a:pPr>
            <a:r>
              <a:rPr sz="1600">
                <a:solidFill>
                  <a:srgbClr val="FFFFFF"/>
                </a:solidFill>
                <a:latin typeface="Calibri"/>
              </a:rPr>
              <a:t>  •  Removed Firebase entirely (visible in early commit history)</a:t>
            </a:r>
          </a:p>
          <a:p>
            <a:pPr>
              <a:spcAft>
                <a:spcPts val="600"/>
              </a:spcAft>
            </a:pPr>
            <a:r>
              <a:rPr sz="1600">
                <a:solidFill>
                  <a:srgbClr val="FFFFFF"/>
                </a:solidFill>
                <a:latin typeface="Calibri"/>
              </a:rPr>
              <a:t>  •  Static JSON = zero cost, zero auth, zero backend maintenance</a:t>
            </a:r>
          </a:p>
          <a:p>
            <a:pPr>
              <a:spcAft>
                <a:spcPts val="600"/>
              </a:spcAft>
            </a:pPr>
            <a:r>
              <a:rPr sz="1600">
                <a:solidFill>
                  <a:srgbClr val="FFFFFF"/>
                </a:solidFill>
                <a:latin typeface="Calibri"/>
              </a:rPr>
              <a:t>  •  Git versioning gives us full history of every data change for free</a:t>
            </a:r>
          </a:p>
          <a:p>
            <a:pPr>
              <a:spcAft>
                <a:spcPts val="600"/>
              </a:spcAft>
            </a:pPr>
            <a:r>
              <a:rPr sz="1600" b="1">
                <a:solidFill>
                  <a:srgbClr val="FFD700"/>
                </a:solidFill>
                <a:latin typeface="Calibri"/>
              </a:rPr>
              <a:t>Lesson:</a:t>
            </a:r>
            <a:r>
              <a:rPr sz="1600">
                <a:solidFill>
                  <a:srgbClr val="FFFFFF"/>
                </a:solidFill>
                <a:latin typeface="Calibri"/>
              </a:rPr>
              <a:t> don't add infrastructure you don't need</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7 /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Importing Data from Excel</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DATA WORKFLOWS</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a:solidFill>
                  <a:srgbClr val="FFFFFF"/>
                </a:solidFill>
                <a:latin typeface="Calibri"/>
              </a:rPr>
              <a:t>  •  Generate a colour-coded Excel template from municipalities.json</a:t>
            </a:r>
          </a:p>
          <a:p>
            <a:pPr>
              <a:spcAft>
                <a:spcPts val="600"/>
              </a:spcAft>
            </a:pPr>
            <a:r>
              <a:rPr sz="1600">
                <a:solidFill>
                  <a:srgbClr val="FFFFFF"/>
                </a:solidFill>
                <a:latin typeface="Calibri"/>
              </a:rPr>
              <a:t>  •  Edit in Excel — bulk updates to statuses, restaurants, dates, links</a:t>
            </a:r>
          </a:p>
          <a:p>
            <a:pPr>
              <a:spcAft>
                <a:spcPts val="600"/>
              </a:spcAft>
            </a:pPr>
            <a:r>
              <a:rPr sz="1600" b="1">
                <a:solidFill>
                  <a:srgbClr val="FFD700"/>
                </a:solidFill>
                <a:latin typeface="Calibri"/>
              </a:rPr>
              <a:t>Export as CSV, then run:</a:t>
            </a:r>
            <a:r>
              <a:rPr sz="1600">
                <a:solidFill>
                  <a:srgbClr val="FFFFFF"/>
                </a:solidFill>
                <a:latin typeface="Calibri"/>
              </a:rPr>
              <a:t> npm run import path/to/file.csv</a:t>
            </a:r>
          </a:p>
          <a:p>
            <a:pPr>
              <a:spcAft>
                <a:spcPts val="600"/>
              </a:spcAft>
            </a:pPr>
            <a:r>
              <a:rPr sz="1600">
                <a:solidFill>
                  <a:srgbClr val="FFFFFF"/>
                </a:solidFill>
                <a:latin typeface="Calibri"/>
              </a:rPr>
              <a:t>  •  Script merges CSV data back into municipalities.json</a:t>
            </a:r>
          </a:p>
          <a:p>
            <a:pPr>
              <a:spcAft>
                <a:spcPts val="600"/>
              </a:spcAft>
            </a:pPr>
            <a:r>
              <a:rPr sz="1600">
                <a:solidFill>
                  <a:srgbClr val="FFFFFF"/>
                </a:solidFill>
                <a:latin typeface="Calibri"/>
              </a:rPr>
              <a:t>  •  Preserves 'orphaned' links added via admin panel (not in Excel columns)</a:t>
            </a:r>
          </a:p>
          <a:p>
            <a:pPr>
              <a:spcAft>
                <a:spcPts val="600"/>
              </a:spcAft>
            </a:pPr>
            <a:r>
              <a:rPr sz="1600">
                <a:solidFill>
                  <a:srgbClr val="FFFFFF"/>
                </a:solidFill>
                <a:latin typeface="Calibri"/>
              </a:rPr>
              <a:t>  •  Handles blank cells carefully — doesn't accidentally erase data</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8 / 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Social Media &amp; Thumbnail Automation</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DATA WORKFLOWS</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b="1">
                <a:solidFill>
                  <a:srgbClr val="FFD700"/>
                </a:solidFill>
                <a:latin typeface="Calibri"/>
              </a:rPr>
              <a:t>Instagram:</a:t>
            </a:r>
            <a:r>
              <a:rPr sz="1600">
                <a:solidFill>
                  <a:srgbClr val="FFFFFF"/>
                </a:solidFill>
                <a:latin typeface="Calibri"/>
              </a:rPr>
              <a:t> export posts via PostFox → Python script matches to towns</a:t>
            </a:r>
          </a:p>
          <a:p>
            <a:pPr>
              <a:spcAft>
                <a:spcPts val="600"/>
              </a:spcAft>
            </a:pPr>
            <a:r>
              <a:rPr sz="1600" b="1">
                <a:solidFill>
                  <a:srgbClr val="FFD700"/>
                </a:solidFill>
                <a:latin typeface="Calibri"/>
              </a:rPr>
              <a:t>Facebook:</a:t>
            </a:r>
            <a:r>
              <a:rPr sz="1600">
                <a:solidFill>
                  <a:srgbClr val="FFFFFF"/>
                </a:solidFill>
                <a:latin typeface="Calibri"/>
              </a:rPr>
              <a:t> Graph API fetch → Python script matches to towns</a:t>
            </a:r>
          </a:p>
          <a:p>
            <a:pPr>
              <a:spcAft>
                <a:spcPts val="600"/>
              </a:spcAft>
            </a:pPr>
            <a:r>
              <a:rPr sz="1600" b="1">
                <a:solidFill>
                  <a:srgbClr val="FFD700"/>
                </a:solidFill>
                <a:latin typeface="Calibri"/>
              </a:rPr>
              <a:t>Both:</a:t>
            </a:r>
            <a:r>
              <a:rPr sz="1600">
                <a:solidFill>
                  <a:srgbClr val="FFFFFF"/>
                </a:solidFill>
                <a:latin typeface="Calibri"/>
              </a:rPr>
              <a:t> normalize labels, preserve existing data, create backups</a:t>
            </a:r>
          </a:p>
          <a:p>
            <a:pPr>
              <a:spcAft>
                <a:spcPts val="600"/>
              </a:spcAft>
            </a:pPr>
            <a:r>
              <a:rPr sz="1600" b="1">
                <a:solidFill>
                  <a:srgbClr val="FFD700"/>
                </a:solidFill>
                <a:latin typeface="Calibri"/>
              </a:rPr>
              <a:t>Thumbnails:</a:t>
            </a:r>
            <a:r>
              <a:rPr sz="1600">
                <a:solidFill>
                  <a:srgbClr val="FFFFFF"/>
                </a:solidFill>
                <a:latin typeface="Calibri"/>
              </a:rPr>
              <a:t> Instagram shortcodes → download → resize to 320px WebP</a:t>
            </a:r>
          </a:p>
          <a:p>
            <a:pPr>
              <a:spcAft>
                <a:spcPts val="600"/>
              </a:spcAft>
            </a:pPr>
            <a:r>
              <a:rPr sz="1600" b="1">
                <a:solidFill>
                  <a:srgbClr val="FFD700"/>
                </a:solidFill>
                <a:latin typeface="Calibri"/>
              </a:rPr>
              <a:t>GitHub Actions:</a:t>
            </a:r>
            <a:r>
              <a:rPr sz="1600">
                <a:solidFill>
                  <a:srgbClr val="FFFFFF"/>
                </a:solidFill>
                <a:latin typeface="Calibri"/>
              </a:rPr>
              <a:t> push PostFox export → auto-fetch new thumbnails</a:t>
            </a:r>
          </a:p>
          <a:p>
            <a:pPr>
              <a:spcAft>
                <a:spcPts val="600"/>
              </a:spcAft>
            </a:pPr>
            <a:r>
              <a:rPr sz="1600">
                <a:solidFill>
                  <a:srgbClr val="FFFFFF"/>
                </a:solidFill>
                <a:latin typeface="Calibri"/>
              </a:rPr>
              <a:t>  •  Fully automated CI/CD for a static site!</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9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Edge Cases &amp; Data Quirks</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DATA WORKFLOWS</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b="1">
                <a:solidFill>
                  <a:srgbClr val="FFD700"/>
                </a:solidFill>
                <a:latin typeface="Calibri"/>
              </a:rPr>
              <a:t>Ambiguous town names:</a:t>
            </a:r>
            <a:r>
              <a:rPr sz="1600">
                <a:solidFill>
                  <a:srgbClr val="FFFFFF"/>
                </a:solidFill>
                <a:latin typeface="Calibri"/>
              </a:rPr>
              <a:t> 4 towns named 'Washington' across different counties</a:t>
            </a:r>
          </a:p>
          <a:p>
            <a:pPr>
              <a:spcAft>
                <a:spcPts val="600"/>
              </a:spcAft>
            </a:pPr>
            <a:r>
              <a:rPr sz="1600" b="1">
                <a:solidFill>
                  <a:srgbClr val="FFD700"/>
                </a:solidFill>
                <a:latin typeface="Calibri"/>
              </a:rPr>
              <a:t>Solution:</a:t>
            </a:r>
            <a:r>
              <a:rPr sz="1600">
                <a:solidFill>
                  <a:srgbClr val="FFFFFF"/>
                </a:solidFill>
                <a:latin typeface="Calibri"/>
              </a:rPr>
              <a:t> maintain an ambiguousNames set, append county to Wikipedia links</a:t>
            </a:r>
          </a:p>
          <a:p>
            <a:pPr>
              <a:spcAft>
                <a:spcPts val="600"/>
              </a:spcAft>
            </a:pPr>
            <a:r>
              <a:rPr sz="1600" b="1">
                <a:solidFill>
                  <a:srgbClr val="FFD700"/>
                </a:solidFill>
                <a:latin typeface="Calibri"/>
              </a:rPr>
              <a:t>Schema migration:</a:t>
            </a:r>
            <a:r>
              <a:rPr sz="1600">
                <a:solidFill>
                  <a:srgbClr val="FFFFFF"/>
                </a:solidFill>
                <a:latin typeface="Calibri"/>
              </a:rPr>
              <a:t> v1 had boolean 'visited' → v2 has 4-status model</a:t>
            </a:r>
          </a:p>
          <a:p>
            <a:pPr>
              <a:spcAft>
                <a:spcPts val="600"/>
              </a:spcAft>
            </a:pPr>
            <a:r>
              <a:rPr sz="1600" b="1">
                <a:solidFill>
                  <a:srgbClr val="FFD700"/>
                </a:solidFill>
                <a:latin typeface="Calibri"/>
              </a:rPr>
              <a:t>Migration script:</a:t>
            </a:r>
            <a:r>
              <a:rPr sz="1600">
                <a:solidFill>
                  <a:srgbClr val="FFFFFF"/>
                </a:solidFill>
                <a:latin typeface="Calibri"/>
              </a:rPr>
              <a:t> scripts/migrate-schema-v2.js for backward compatibility</a:t>
            </a:r>
          </a:p>
          <a:p>
            <a:pPr>
              <a:spcAft>
                <a:spcPts val="600"/>
              </a:spcAft>
            </a:pPr>
            <a:r>
              <a:rPr sz="1600" b="1">
                <a:solidFill>
                  <a:srgbClr val="FFD700"/>
                </a:solidFill>
                <a:latin typeface="Calibri"/>
              </a:rPr>
              <a:t>SRI hash mismatch:</a:t>
            </a:r>
            <a:r>
              <a:rPr sz="1600">
                <a:solidFill>
                  <a:srgbClr val="FFFFFF"/>
                </a:solidFill>
                <a:latin typeface="Calibri"/>
              </a:rPr>
              <a:t> Leaflet CDN integrity hash changed unexpectedly</a:t>
            </a:r>
          </a:p>
          <a:p>
            <a:pPr>
              <a:spcAft>
                <a:spcPts val="600"/>
              </a:spcAft>
            </a:pPr>
            <a:r>
              <a:rPr sz="1600" b="1">
                <a:solidFill>
                  <a:srgbClr val="FFD700"/>
                </a:solidFill>
                <a:latin typeface="Calibri"/>
              </a:rPr>
              <a:t>GeoJSON size:</a:t>
            </a:r>
            <a:r>
              <a:rPr sz="1600">
                <a:solidFill>
                  <a:srgbClr val="FFFFFF"/>
                </a:solidFill>
                <a:latin typeface="Calibri"/>
              </a:rPr>
              <a:t> full NJ polygon file is large — lazy loading considerations</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10 / 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Vibe Coding: The Starting Point</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BUILDING WITH GITHUB COPILOT</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b="1">
                <a:solidFill>
                  <a:srgbClr val="FFD700"/>
                </a:solidFill>
                <a:latin typeface="Calibri"/>
              </a:rPr>
              <a:t>The very first commit:</a:t>
            </a:r>
            <a:r>
              <a:rPr sz="1600">
                <a:solidFill>
                  <a:srgbClr val="FFFFFF"/>
                </a:solidFill>
                <a:latin typeface="Calibri"/>
              </a:rPr>
              <a:t> 'initial set of vibe coded files'</a:t>
            </a:r>
          </a:p>
          <a:p>
            <a:pPr>
              <a:spcAft>
                <a:spcPts val="600"/>
              </a:spcAft>
            </a:pPr>
            <a:r>
              <a:rPr sz="1600">
                <a:solidFill>
                  <a:srgbClr val="FFFFFF"/>
                </a:solidFill>
                <a:latin typeface="Calibri"/>
              </a:rPr>
              <a:t>  •  GitHub Copilot (Agent mode) generated the entire first version</a:t>
            </a:r>
          </a:p>
          <a:p>
            <a:pPr>
              <a:spcAft>
                <a:spcPts val="600"/>
              </a:spcAft>
            </a:pPr>
            <a:r>
              <a:rPr sz="1600">
                <a:solidFill>
                  <a:srgbClr val="FFFFFF"/>
                </a:solidFill>
                <a:latin typeface="Calibri"/>
              </a:rPr>
              <a:t>  •  HTML, CSS, JavaScript, even the initial data structure</a:t>
            </a:r>
          </a:p>
          <a:p>
            <a:pPr>
              <a:spcAft>
                <a:spcPts val="600"/>
              </a:spcAft>
            </a:pPr>
            <a:r>
              <a:rPr sz="1600">
                <a:solidFill>
                  <a:srgbClr val="FFFFFF"/>
                </a:solidFill>
                <a:latin typeface="Calibri"/>
              </a:rPr>
              <a:t>  •  From idea to working prototype in a single session</a:t>
            </a:r>
          </a:p>
          <a:p>
            <a:pPr>
              <a:spcAft>
                <a:spcPts val="600"/>
              </a:spcAft>
            </a:pPr>
            <a:r>
              <a:rPr sz="1600">
                <a:solidFill>
                  <a:srgbClr val="FFFFFF"/>
                </a:solidFill>
                <a:latin typeface="Calibri"/>
              </a:rPr>
              <a:t>  •  Not perfect — but a working starting point to iterate on</a:t>
            </a:r>
          </a:p>
          <a:p>
            <a:pPr>
              <a:spcAft>
                <a:spcPts val="600"/>
              </a:spcAft>
            </a:pPr>
            <a:r>
              <a:rPr sz="1600">
                <a:solidFill>
                  <a:srgbClr val="FFFFFF"/>
                </a:solidFill>
                <a:latin typeface="Calibri"/>
              </a:rPr>
              <a:t>  •  This is the promise of AI-assisted development</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11 / 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Plan vs Agent vs Ask Mode</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BUILDING WITH GITHUB COPILOT</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b="1">
                <a:solidFill>
                  <a:srgbClr val="FFD700"/>
                </a:solidFill>
                <a:latin typeface="Calibri"/>
              </a:rPr>
              <a:t>Plan Mode:</a:t>
            </a:r>
            <a:r>
              <a:rPr sz="1600">
                <a:solidFill>
                  <a:srgbClr val="FFFFFF"/>
                </a:solidFill>
                <a:latin typeface="Calibri"/>
              </a:rPr>
              <a:t> researches first, proposes changes across files, asks for approval</a:t>
            </a:r>
          </a:p>
          <a:p>
            <a:pPr>
              <a:spcAft>
                <a:spcPts val="600"/>
              </a:spcAft>
            </a:pPr>
            <a:r>
              <a:rPr sz="1600" b="1">
                <a:solidFill>
                  <a:srgbClr val="FFD700"/>
                </a:solidFill>
                <a:latin typeface="Calibri"/>
              </a:rPr>
              <a:t>  → Best for:</a:t>
            </a:r>
            <a:r>
              <a:rPr sz="1600">
                <a:solidFill>
                  <a:srgbClr val="FFFFFF"/>
                </a:solidFill>
                <a:latin typeface="Calibri"/>
              </a:rPr>
              <a:t> architecture decisions, multi-file refactors, new features</a:t>
            </a:r>
          </a:p>
          <a:p>
            <a:pPr>
              <a:spcAft>
                <a:spcPts val="600"/>
              </a:spcAft>
            </a:pPr>
            <a:r>
              <a:rPr sz="1600" b="1">
                <a:solidFill>
                  <a:srgbClr val="FFD700"/>
                </a:solidFill>
                <a:latin typeface="Calibri"/>
              </a:rPr>
              <a:t>Agent Mode:</a:t>
            </a:r>
            <a:r>
              <a:rPr sz="1600">
                <a:solidFill>
                  <a:srgbClr val="FFFFFF"/>
                </a:solidFill>
                <a:latin typeface="Calibri"/>
              </a:rPr>
              <a:t> implements directly — edits files, runs commands, iterates</a:t>
            </a:r>
          </a:p>
          <a:p>
            <a:pPr>
              <a:spcAft>
                <a:spcPts val="600"/>
              </a:spcAft>
            </a:pPr>
            <a:r>
              <a:rPr sz="1600" b="1">
                <a:solidFill>
                  <a:srgbClr val="FFD700"/>
                </a:solidFill>
                <a:latin typeface="Calibri"/>
              </a:rPr>
              <a:t>  → Best for:</a:t>
            </a:r>
            <a:r>
              <a:rPr sz="1600">
                <a:solidFill>
                  <a:srgbClr val="FFFFFF"/>
                </a:solidFill>
                <a:latin typeface="Calibri"/>
              </a:rPr>
              <a:t> writing code, running scripts, debugging, building features</a:t>
            </a:r>
          </a:p>
          <a:p>
            <a:pPr>
              <a:spcAft>
                <a:spcPts val="600"/>
              </a:spcAft>
            </a:pPr>
            <a:r>
              <a:rPr sz="1600" b="1">
                <a:solidFill>
                  <a:srgbClr val="FFD700"/>
                </a:solidFill>
                <a:latin typeface="Calibri"/>
              </a:rPr>
              <a:t>Ask Mode:</a:t>
            </a:r>
            <a:r>
              <a:rPr sz="1600">
                <a:solidFill>
                  <a:srgbClr val="FFFFFF"/>
                </a:solidFill>
                <a:latin typeface="Calibri"/>
              </a:rPr>
              <a:t> answers questions, explains code — read-only</a:t>
            </a:r>
          </a:p>
          <a:p>
            <a:pPr>
              <a:spcAft>
                <a:spcPts val="600"/>
              </a:spcAft>
            </a:pPr>
            <a:r>
              <a:rPr sz="1600" b="1">
                <a:solidFill>
                  <a:srgbClr val="FFD700"/>
                </a:solidFill>
                <a:latin typeface="Calibri"/>
              </a:rPr>
              <a:t>  → Best for:</a:t>
            </a:r>
            <a:r>
              <a:rPr sz="1600">
                <a:solidFill>
                  <a:srgbClr val="FFFFFF"/>
                </a:solidFill>
                <a:latin typeface="Calibri"/>
              </a:rPr>
              <a:t> understanding unfamiliar code, quick questions, learning</a:t>
            </a:r>
          </a:p>
          <a:p>
            <a:pPr>
              <a:spcAft>
                <a:spcPts val="600"/>
              </a:spcAft>
            </a:pPr>
            <a:r>
              <a:rPr sz="1600" b="1">
                <a:solidFill>
                  <a:srgbClr val="FFD700"/>
                </a:solidFill>
                <a:latin typeface="Calibri"/>
              </a:rPr>
              <a:t>The handoff:</a:t>
            </a:r>
            <a:r>
              <a:rPr sz="1600">
                <a:solidFill>
                  <a:srgbClr val="FFFFFF"/>
                </a:solidFill>
                <a:latin typeface="Calibri"/>
              </a:rPr>
              <a:t> Plan the approach → Agent builds it → Ask to debug</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12 / 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Copilot Pain Points &amp; Issues</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BUILDING WITH GITHUB COPILOT</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b="1">
                <a:solidFill>
                  <a:srgbClr val="FFD700"/>
                </a:solidFill>
                <a:latin typeface="Calibri"/>
              </a:rPr>
              <a:t>VS Code crashes:</a:t>
            </a:r>
            <a:r>
              <a:rPr sz="1600">
                <a:solidFill>
                  <a:srgbClr val="FFFFFF"/>
                </a:solidFill>
                <a:latin typeface="Calibri"/>
              </a:rPr>
              <a:t> lost context window and conversation history</a:t>
            </a:r>
          </a:p>
          <a:p>
            <a:pPr>
              <a:spcAft>
                <a:spcPts val="600"/>
              </a:spcAft>
            </a:pPr>
            <a:r>
              <a:rPr sz="1600">
                <a:solidFill>
                  <a:srgbClr val="FFFFFF"/>
                </a:solidFill>
                <a:latin typeface="Calibri"/>
              </a:rPr>
              <a:t>  •  No way to recover a conversation after a crash</a:t>
            </a:r>
          </a:p>
          <a:p>
            <a:pPr>
              <a:spcAft>
                <a:spcPts val="600"/>
              </a:spcAft>
            </a:pPr>
            <a:r>
              <a:rPr sz="1600" b="1">
                <a:solidFill>
                  <a:srgbClr val="FFD700"/>
                </a:solidFill>
                <a:latin typeface="Calibri"/>
              </a:rPr>
              <a:t>Context window limits:</a:t>
            </a:r>
            <a:r>
              <a:rPr sz="1600">
                <a:solidFill>
                  <a:srgbClr val="FFFFFF"/>
                </a:solidFill>
                <a:latin typeface="Calibri"/>
              </a:rPr>
              <a:t> long sessions degrade response quality</a:t>
            </a:r>
          </a:p>
          <a:p>
            <a:pPr>
              <a:spcAft>
                <a:spcPts val="600"/>
              </a:spcAft>
            </a:pPr>
            <a:r>
              <a:rPr sz="1600">
                <a:solidFill>
                  <a:srgbClr val="FFFFFF"/>
                </a:solidFill>
                <a:latin typeface="Calibri"/>
              </a:rPr>
              <a:t>  •  Copilot sometimes 'forgets' earlier decisions in long conversations</a:t>
            </a:r>
          </a:p>
          <a:p>
            <a:pPr>
              <a:spcAft>
                <a:spcPts val="600"/>
              </a:spcAft>
            </a:pPr>
            <a:r>
              <a:rPr sz="1600">
                <a:solidFill>
                  <a:srgbClr val="FFFFFF"/>
                </a:solidFill>
                <a:latin typeface="Calibri"/>
              </a:rPr>
              <a:t>  •  Generated code needs review — it can introduce subtle bugs</a:t>
            </a:r>
          </a:p>
          <a:p>
            <a:pPr>
              <a:spcAft>
                <a:spcPts val="600"/>
              </a:spcAft>
            </a:pPr>
            <a:r>
              <a:rPr sz="1600" b="1">
                <a:solidFill>
                  <a:srgbClr val="FFD700"/>
                </a:solidFill>
                <a:latin typeface="Calibri"/>
              </a:rPr>
              <a:t>Workaround:</a:t>
            </a:r>
            <a:r>
              <a:rPr sz="1600">
                <a:solidFill>
                  <a:srgbClr val="FFFFFF"/>
                </a:solidFill>
                <a:latin typeface="Calibri"/>
              </a:rPr>
              <a:t> break work into smaller, focused sessions</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13 / 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Tips &amp; Best Practices</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BUILDING WITH GITHUB COPILOT</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b="1">
                <a:solidFill>
                  <a:srgbClr val="FFD700"/>
                </a:solidFill>
                <a:latin typeface="Calibri"/>
              </a:rPr>
              <a:t>Use memory files:</a:t>
            </a:r>
            <a:r>
              <a:rPr sz="1600">
                <a:solidFill>
                  <a:srgbClr val="FFFFFF"/>
                </a:solidFill>
                <a:latin typeface="Calibri"/>
              </a:rPr>
              <a:t> .github/copilot-instructions.md for project context</a:t>
            </a:r>
          </a:p>
          <a:p>
            <a:pPr>
              <a:spcAft>
                <a:spcPts val="600"/>
              </a:spcAft>
            </a:pPr>
            <a:r>
              <a:rPr sz="1600">
                <a:solidFill>
                  <a:srgbClr val="FFFFFF"/>
                </a:solidFill>
                <a:latin typeface="Calibri"/>
              </a:rPr>
              <a:t>  •  Break large tasks into small, focused sessions</a:t>
            </a:r>
          </a:p>
          <a:p>
            <a:pPr>
              <a:spcAft>
                <a:spcPts val="600"/>
              </a:spcAft>
            </a:pPr>
            <a:r>
              <a:rPr sz="1600">
                <a:solidFill>
                  <a:srgbClr val="FFFFFF"/>
                </a:solidFill>
                <a:latin typeface="Calibri"/>
              </a:rPr>
              <a:t>  •  Commit frequently — you can always revert</a:t>
            </a:r>
          </a:p>
          <a:p>
            <a:pPr>
              <a:spcAft>
                <a:spcPts val="600"/>
              </a:spcAft>
            </a:pPr>
            <a:r>
              <a:rPr sz="1600" b="1">
                <a:solidFill>
                  <a:srgbClr val="FFD700"/>
                </a:solidFill>
                <a:latin typeface="Calibri"/>
              </a:rPr>
              <a:t>Be specific with prompts:</a:t>
            </a:r>
            <a:r>
              <a:rPr sz="1600">
                <a:solidFill>
                  <a:srgbClr val="FFFFFF"/>
                </a:solidFill>
                <a:latin typeface="Calibri"/>
              </a:rPr>
              <a:t> 'Add a gold border to visited polygons' &gt; 'Make it look better'</a:t>
            </a:r>
          </a:p>
          <a:p>
            <a:pPr>
              <a:spcAft>
                <a:spcPts val="600"/>
              </a:spcAft>
            </a:pPr>
            <a:r>
              <a:rPr sz="1600">
                <a:solidFill>
                  <a:srgbClr val="FFFFFF"/>
                </a:solidFill>
                <a:latin typeface="Calibri"/>
              </a:rPr>
              <a:t>  •  Review every line of generated code — trust but verify</a:t>
            </a:r>
          </a:p>
          <a:p>
            <a:pPr>
              <a:spcAft>
                <a:spcPts val="600"/>
              </a:spcAft>
            </a:pPr>
            <a:r>
              <a:rPr sz="1600">
                <a:solidFill>
                  <a:srgbClr val="FFFFFF"/>
                </a:solidFill>
                <a:latin typeface="Calibri"/>
              </a:rPr>
              <a:t>  •  Plan mode first, then Agent — don't jump straight to implementation</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14 / 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Evolution Timeline</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THE JOURNEY</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a:solidFill>
                  <a:srgbClr val="FFFFFF"/>
                </a:solidFill>
                <a:latin typeface="Calibri"/>
              </a:rPr>
              <a:t>  •  Initial commit → 'vibe coded files' — Copilot generates v1</a:t>
            </a:r>
          </a:p>
          <a:p>
            <a:pPr>
              <a:spcAft>
                <a:spcPts val="600"/>
              </a:spcAft>
            </a:pPr>
            <a:r>
              <a:rPr sz="1600">
                <a:solidFill>
                  <a:srgbClr val="FFFFFF"/>
                </a:solidFill>
                <a:latin typeface="Calibri"/>
              </a:rPr>
              <a:t>  •  Remove Firebase → pivot to static JSON architecture</a:t>
            </a:r>
          </a:p>
          <a:p>
            <a:pPr>
              <a:spcAft>
                <a:spcPts val="600"/>
              </a:spcAft>
            </a:pPr>
            <a:r>
              <a:rPr sz="1600">
                <a:solidFill>
                  <a:srgbClr val="FFFFFF"/>
                </a:solidFill>
                <a:latin typeface="Calibri"/>
              </a:rPr>
              <a:t>  •  Schema migration → boolean visited → 4-status model</a:t>
            </a:r>
          </a:p>
          <a:p>
            <a:pPr>
              <a:spcAft>
                <a:spcPts val="600"/>
              </a:spcAft>
            </a:pPr>
            <a:r>
              <a:rPr sz="1600">
                <a:solidFill>
                  <a:srgbClr val="FFFFFF"/>
                </a:solidFill>
                <a:latin typeface="Calibri"/>
              </a:rPr>
              <a:t>  •  Admin panel → visual editing without touching JSON</a:t>
            </a:r>
          </a:p>
          <a:p>
            <a:pPr>
              <a:spcAft>
                <a:spcPts val="600"/>
              </a:spcAft>
            </a:pPr>
            <a:r>
              <a:rPr sz="1600">
                <a:solidFill>
                  <a:srgbClr val="FFFFFF"/>
                </a:solidFill>
                <a:latin typeface="Calibri"/>
              </a:rPr>
              <a:t>  •  Excel import pipeline → bulk data management</a:t>
            </a:r>
          </a:p>
          <a:p>
            <a:pPr>
              <a:spcAft>
                <a:spcPts val="600"/>
              </a:spcAft>
            </a:pPr>
            <a:r>
              <a:rPr sz="1600">
                <a:solidFill>
                  <a:srgbClr val="FFFFFF"/>
                </a:solidFill>
                <a:latin typeface="Calibri"/>
              </a:rPr>
              <a:t>  •  Social media imports → Instagram &amp; Facebook automation</a:t>
            </a:r>
          </a:p>
          <a:p>
            <a:pPr>
              <a:spcAft>
                <a:spcPts val="600"/>
              </a:spcAft>
            </a:pPr>
            <a:r>
              <a:rPr sz="1600">
                <a:solidFill>
                  <a:srgbClr val="FFFFFF"/>
                </a:solidFill>
                <a:latin typeface="Calibri"/>
              </a:rPr>
              <a:t>  •  Thumbnail automation → GitHub Actions CI/CD</a:t>
            </a:r>
          </a:p>
          <a:p>
            <a:pPr>
              <a:spcAft>
                <a:spcPts val="600"/>
              </a:spcAft>
            </a:pPr>
            <a:r>
              <a:rPr sz="1600">
                <a:solidFill>
                  <a:srgbClr val="FFFFFF"/>
                </a:solidFill>
                <a:latin typeface="Calibri"/>
              </a:rPr>
              <a:t>  •  Iterative popup refinement → 10+ styling commits</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15 / 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What I'd Do Differently</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THE JOURNEY</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a:solidFill>
                  <a:srgbClr val="FFFFFF"/>
                </a:solidFill>
                <a:latin typeface="Calibri"/>
              </a:rPr>
              <a:t>  •  Start with the data model — get that right first</a:t>
            </a:r>
          </a:p>
          <a:p>
            <a:pPr>
              <a:spcAft>
                <a:spcPts val="600"/>
              </a:spcAft>
            </a:pPr>
            <a:r>
              <a:rPr sz="1600">
                <a:solidFill>
                  <a:srgbClr val="FFFFFF"/>
                </a:solidFill>
                <a:latin typeface="Calibri"/>
              </a:rPr>
              <a:t>  •  Set up the Excel pipeline earlier — bulk entry saves hours</a:t>
            </a:r>
          </a:p>
          <a:p>
            <a:pPr>
              <a:spcAft>
                <a:spcPts val="600"/>
              </a:spcAft>
            </a:pPr>
            <a:r>
              <a:rPr sz="1600">
                <a:solidFill>
                  <a:srgbClr val="FFFFFF"/>
                </a:solidFill>
                <a:latin typeface="Calibri"/>
              </a:rPr>
              <a:t>  •  Use TypeScript or JSDoc for better Copilot suggestions</a:t>
            </a:r>
          </a:p>
          <a:p>
            <a:pPr>
              <a:spcAft>
                <a:spcPts val="600"/>
              </a:spcAft>
            </a:pPr>
            <a:r>
              <a:rPr sz="1600">
                <a:solidFill>
                  <a:srgbClr val="FFFFFF"/>
                </a:solidFill>
                <a:latin typeface="Calibri"/>
              </a:rPr>
              <a:t>  •  Add basic tests — even for a personal project</a:t>
            </a:r>
          </a:p>
          <a:p>
            <a:pPr>
              <a:spcAft>
                <a:spcPts val="600"/>
              </a:spcAft>
            </a:pPr>
            <a:r>
              <a:rPr sz="1600">
                <a:solidFill>
                  <a:srgbClr val="FFFFFF"/>
                </a:solidFill>
                <a:latin typeface="Calibri"/>
              </a:rPr>
              <a:t>  •  Document decisions as you go — not after the fact</a:t>
            </a:r>
          </a:p>
          <a:p>
            <a:pPr>
              <a:spcAft>
                <a:spcPts val="600"/>
              </a:spcAft>
            </a:pPr>
            <a:r>
              <a:rPr sz="1600">
                <a:solidFill>
                  <a:srgbClr val="FFFFFF"/>
                </a:solidFill>
                <a:latin typeface="Calibri"/>
              </a:rPr>
              <a:t>  •  Shorter Copilot sessions from day one to avoid context loss</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16 / 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274320" y="182880"/>
            <a:ext cx="502920" cy="502920"/>
          </a:xfrm>
          <a:prstGeom prst="rect">
            <a:avLst/>
          </a:prstGeom>
        </p:spPr>
      </p:pic>
      <p:sp>
        <p:nvSpPr>
          <p:cNvPr id="3" name="TextBox 2"/>
          <p:cNvSpPr txBox="1"/>
          <p:nvPr/>
        </p:nvSpPr>
        <p:spPr>
          <a:xfrm>
            <a:off x="914400" y="137160"/>
            <a:ext cx="10515600" cy="640080"/>
          </a:xfrm>
          <a:prstGeom prst="rect">
            <a:avLst/>
          </a:prstGeom>
          <a:noFill/>
        </p:spPr>
        <p:txBody>
          <a:bodyPr wrap="square">
            <a:spAutoFit/>
          </a:bodyPr>
          <a:lstStyle/>
          <a:p>
            <a:pPr algn="l">
              <a:defRPr sz="2800" b="1">
                <a:solidFill>
                  <a:srgbClr val="FFFFFF"/>
                </a:solidFill>
                <a:latin typeface="Calibri"/>
              </a:defRPr>
            </a:pPr>
            <a:r>
              <a:t>By the Numbers</a:t>
            </a:r>
          </a:p>
        </p:txBody>
      </p:sp>
      <p:sp>
        <p:nvSpPr>
          <p:cNvPr id="4" name="Rectangle 3"/>
          <p:cNvSpPr/>
          <p:nvPr/>
        </p:nvSpPr>
        <p:spPr>
          <a:xfrm>
            <a:off x="914400" y="731520"/>
            <a:ext cx="2743200" cy="381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3657600" cy="274320"/>
          </a:xfrm>
          <a:prstGeom prst="rect">
            <a:avLst/>
          </a:prstGeom>
          <a:noFill/>
        </p:spPr>
        <p:txBody>
          <a:bodyPr wrap="square">
            <a:spAutoFit/>
          </a:bodyPr>
          <a:lstStyle/>
          <a:p>
            <a:pPr algn="l">
              <a:defRPr sz="1100" b="1">
                <a:solidFill>
                  <a:srgbClr val="FFD700"/>
                </a:solidFill>
                <a:latin typeface="Calibri"/>
              </a:defRPr>
            </a:pPr>
            <a:r>
              <a:t>THE JOURNEY</a:t>
            </a:r>
          </a:p>
        </p:txBody>
      </p:sp>
      <p:sp>
        <p:nvSpPr>
          <p:cNvPr id="6" name="TextBox 5"/>
          <p:cNvSpPr txBox="1"/>
          <p:nvPr/>
        </p:nvSpPr>
        <p:spPr>
          <a:xfrm>
            <a:off x="914400" y="1005840"/>
            <a:ext cx="10515600" cy="5303520"/>
          </a:xfrm>
          <a:prstGeom prst="rect">
            <a:avLst/>
          </a:prstGeom>
          <a:noFill/>
        </p:spPr>
        <p:txBody>
          <a:bodyPr wrap="square">
            <a:spAutoFit/>
          </a:bodyPr>
          <a:lstStyle/>
          <a:p>
            <a:pPr>
              <a:spcAft>
                <a:spcPts val="600"/>
              </a:spcAft>
            </a:pPr>
            <a:r>
              <a:rPr sz="1600">
                <a:solidFill>
                  <a:srgbClr val="FFFFFF"/>
                </a:solidFill>
                <a:latin typeface="Calibri"/>
              </a:rPr>
              <a:t>  •  564 municipalities in New Jersey</a:t>
            </a:r>
          </a:p>
          <a:p>
            <a:pPr>
              <a:spcAft>
                <a:spcPts val="600"/>
              </a:spcAft>
            </a:pPr>
            <a:r>
              <a:rPr sz="1600">
                <a:solidFill>
                  <a:srgbClr val="FFFFFF"/>
                </a:solidFill>
                <a:latin typeface="Calibri"/>
              </a:rPr>
              <a:t>  •  [X] towns visited so far</a:t>
            </a:r>
          </a:p>
          <a:p>
            <a:pPr>
              <a:spcAft>
                <a:spcPts val="600"/>
              </a:spcAft>
            </a:pPr>
            <a:r>
              <a:rPr sz="1600">
                <a:solidFill>
                  <a:srgbClr val="FFFFFF"/>
                </a:solidFill>
                <a:latin typeface="Calibri"/>
              </a:rPr>
              <a:t>  •  [X] commits in the repository</a:t>
            </a:r>
          </a:p>
          <a:p>
            <a:pPr>
              <a:spcAft>
                <a:spcPts val="600"/>
              </a:spcAft>
            </a:pPr>
            <a:r>
              <a:rPr sz="1600">
                <a:solidFill>
                  <a:srgbClr val="FFFFFF"/>
                </a:solidFill>
                <a:latin typeface="Calibri"/>
              </a:rPr>
              <a:t>  •  0 frameworks, 0 build tools, 0 monthly hosting cost</a:t>
            </a:r>
          </a:p>
          <a:p>
            <a:pPr>
              <a:spcAft>
                <a:spcPts val="600"/>
              </a:spcAft>
            </a:pPr>
            <a:r>
              <a:rPr sz="1600">
                <a:solidFill>
                  <a:srgbClr val="FFFFFF"/>
                </a:solidFill>
                <a:latin typeface="Calibri"/>
              </a:rPr>
              <a:t>  •  ~2,500 lines of JavaScript (map.js + admin.js + config.js)</a:t>
            </a:r>
          </a:p>
          <a:p>
            <a:pPr>
              <a:spcAft>
                <a:spcPts val="600"/>
              </a:spcAft>
            </a:pPr>
            <a:r>
              <a:rPr sz="1600">
                <a:solidFill>
                  <a:srgbClr val="FFFFFF"/>
                </a:solidFill>
                <a:latin typeface="Calibri"/>
              </a:rPr>
              <a:t>  •  6 automation scripts (Node.js + Python)</a:t>
            </a:r>
          </a:p>
          <a:p>
            <a:pPr>
              <a:spcAft>
                <a:spcPts val="600"/>
              </a:spcAft>
            </a:pPr>
            <a:r>
              <a:rPr sz="1600">
                <a:solidFill>
                  <a:srgbClr val="FFFFFF"/>
                </a:solidFill>
                <a:latin typeface="Calibri"/>
              </a:rPr>
              <a:t>  •  1 GitHub Actions workflow</a:t>
            </a:r>
          </a:p>
        </p:txBody>
      </p:sp>
      <p:sp>
        <p:nvSpPr>
          <p:cNvPr id="7" name="TextBox 6"/>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17 / 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pic>
        <p:nvPicPr>
          <p:cNvPr id="2" name="Picture 1" descr="EJCLogo-Transparent.png"/>
          <p:cNvPicPr>
            <a:picLocks noChangeAspect="1"/>
          </p:cNvPicPr>
          <p:nvPr/>
        </p:nvPicPr>
        <p:blipFill>
          <a:blip r:embed="rId2"/>
          <a:stretch>
            <a:fillRect/>
          </a:stretch>
        </p:blipFill>
        <p:spPr>
          <a:xfrm>
            <a:off x="5272887" y="731520"/>
            <a:ext cx="1645920" cy="1645920"/>
          </a:xfrm>
          <a:prstGeom prst="rect">
            <a:avLst/>
          </a:prstGeom>
        </p:spPr>
      </p:pic>
      <p:sp>
        <p:nvSpPr>
          <p:cNvPr id="3" name="TextBox 2"/>
          <p:cNvSpPr txBox="1"/>
          <p:nvPr/>
        </p:nvSpPr>
        <p:spPr>
          <a:xfrm>
            <a:off x="914400" y="2926080"/>
            <a:ext cx="10332720" cy="731520"/>
          </a:xfrm>
          <a:prstGeom prst="rect">
            <a:avLst/>
          </a:prstGeom>
          <a:noFill/>
        </p:spPr>
        <p:txBody>
          <a:bodyPr wrap="square">
            <a:spAutoFit/>
          </a:bodyPr>
          <a:lstStyle/>
          <a:p>
            <a:pPr algn="ctr">
              <a:defRPr sz="4000" b="1">
                <a:solidFill>
                  <a:srgbClr val="FFD700"/>
                </a:solidFill>
                <a:latin typeface="Calibri"/>
              </a:defRPr>
            </a:pPr>
            <a:r>
              <a:t>Thank You!</a:t>
            </a:r>
          </a:p>
        </p:txBody>
      </p:sp>
      <p:sp>
        <p:nvSpPr>
          <p:cNvPr id="4" name="TextBox 3"/>
          <p:cNvSpPr txBox="1"/>
          <p:nvPr/>
        </p:nvSpPr>
        <p:spPr>
          <a:xfrm>
            <a:off x="914400" y="3840480"/>
            <a:ext cx="10332720" cy="457200"/>
          </a:xfrm>
          <a:prstGeom prst="rect">
            <a:avLst/>
          </a:prstGeom>
          <a:noFill/>
        </p:spPr>
        <p:txBody>
          <a:bodyPr wrap="square">
            <a:spAutoFit/>
          </a:bodyPr>
          <a:lstStyle/>
          <a:p>
            <a:pPr algn="ctr">
              <a:defRPr sz="2400" b="0">
                <a:solidFill>
                  <a:srgbClr val="FFFFFF"/>
                </a:solidFill>
                <a:latin typeface="Calibri"/>
              </a:defRPr>
            </a:pPr>
            <a:r>
              <a:t>Questions?</a:t>
            </a:r>
          </a:p>
        </p:txBody>
      </p:sp>
      <p:sp>
        <p:nvSpPr>
          <p:cNvPr id="5" name="TextBox 4"/>
          <p:cNvSpPr txBox="1"/>
          <p:nvPr/>
        </p:nvSpPr>
        <p:spPr>
          <a:xfrm>
            <a:off x="2743200" y="4754880"/>
            <a:ext cx="6675120" cy="1371600"/>
          </a:xfrm>
          <a:prstGeom prst="rect">
            <a:avLst/>
          </a:prstGeom>
          <a:noFill/>
        </p:spPr>
        <p:txBody>
          <a:bodyPr wrap="square">
            <a:spAutoFit/>
          </a:bodyPr>
          <a:lstStyle/>
          <a:p>
            <a:pPr>
              <a:spcAft>
                <a:spcPts val="600"/>
              </a:spcAft>
            </a:pPr>
            <a:r>
              <a:rPr sz="1600">
                <a:solidFill>
                  <a:srgbClr val="E0E0E0"/>
                </a:solidFill>
                <a:latin typeface="Calibri"/>
              </a:rPr>
              <a:t>  •  GitHub: github.com/jrzyshr/eatjerseychallenge</a:t>
            </a:r>
          </a:p>
          <a:p>
            <a:pPr>
              <a:spcAft>
                <a:spcPts val="600"/>
              </a:spcAft>
            </a:pPr>
            <a:r>
              <a:rPr sz="1600">
                <a:solidFill>
                  <a:srgbClr val="E0E0E0"/>
                </a:solidFill>
                <a:latin typeface="Calibri"/>
              </a:rPr>
              <a:t>  •  Live map: [your GitHub Pages URL]</a:t>
            </a:r>
          </a:p>
        </p:txBody>
      </p:sp>
      <p:sp>
        <p:nvSpPr>
          <p:cNvPr id="6" name="TextBox 5"/>
          <p:cNvSpPr txBox="1"/>
          <p:nvPr/>
        </p:nvSpPr>
        <p:spPr>
          <a:xfrm>
            <a:off x="10972800" y="6446520"/>
            <a:ext cx="914400" cy="320040"/>
          </a:xfrm>
          <a:prstGeom prst="rect">
            <a:avLst/>
          </a:prstGeom>
          <a:noFill/>
        </p:spPr>
        <p:txBody>
          <a:bodyPr wrap="square">
            <a:spAutoFit/>
          </a:bodyPr>
          <a:lstStyle/>
          <a:p>
            <a:pPr algn="r">
              <a:defRPr sz="1000" b="0">
                <a:solidFill>
                  <a:srgbClr val="999999"/>
                </a:solidFill>
                <a:latin typeface="Calibri"/>
              </a:defRPr>
            </a:pPr>
            <a:r>
              <a:t>18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