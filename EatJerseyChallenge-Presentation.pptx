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going to share the story of how I built an interactive web map to track our journey to eat at a restaurant in every single one of New Jersey's 564 municipalities — and what I learned along the way about AI-assisted development with GitHub Copilot.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Explain the challenge: we want to eat at a restaurant in every single municipality in NJ. 564 is a LOT. We needed a way to track progress visually, not just rows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was simple: instead of a spreadsheet, build an interactive map where you can see every town coloured by status and click for details. Something you can share with people and they'll actually explore.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the live map. Show the colour coding. Click on a visited town and walk through the popup: restaurant name, date, thumbnail, social media icons. Toggle detail mode to show queued and pre-challenge.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overview of the full stack. Key takeaway: this is a zero-dependency frontend with no build step. Data lives in Git. Hosting is free.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Justify the choice. This isn't an anti-framework talk — it's about picking the right tool. A personal mapping project doesn't need a SPA framework. Vanilla JS + static hosting = years of zero-maintenance operation.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ingredients: a mapping library (Leaflet), map tiles (OpenStreetMap — free), and boundary polygons (GeoJSON from Census). The GEOID is the magic key that joins geographic shapes to our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data model. Show a sample JSON entry. Emphasize: GEOID-based keys eliminate name ambiguity (there are multiple 'Washington' towns). The links array is flexible — any platform, any category.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architecture lesson. We started with Firebase because it seemed 'proper' — but we only update data weekly. A static JSON file committed to Git is simpler, cheaper, and gives version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Walk through the admin panel. Search for a town, open it, show the edit form. Explain: changes are in-memory only until you Export JSON. This exported file gets committed to Git.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we had data in Excel already. We needed to get it into our JSON format. The import script is smart — it merges, not replaces. Orphaned links (added via admin panel) are preserved and flagged with warnings.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generated Excel file. Highlight: it's not just a dump — it has colour-coded columns, a summary sheet with formulas, and auto-scaled platform columns. The template is the bridge between Excel users and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Instagram workflow: PostFox extension → JSON export → Python script matches by visit number → populates Excel → CSV import. Same pattern for Facebook but using the Graph API directly.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GitHub Actions workflow file. Explain: when someone pushes a new PostFox export, the CI automatically downloads any missing thumbnail images and commits them. Zero manual work for image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Interesting edge cases we hit. The ambiguous names problem was subtle — multiple towns share the same name in different counties. Schema migration shows how data models evolve. The SRI hash issue was a fun debugging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Open the Excel template. Point out colour coding and formulas. Make a change, export CSV, run the import. Show the JSON diff to prove it worked. Highlight orphaned link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 story. The second commit in the repo is literally called 'initial set of vibe coded files'. Copilot's Agent mode generated the entire first version of the map. It worked! Not perfectly, but it was a functional prototype that we could iterate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three modes. Set up the next three slides that go deeper into each one with concrete examples from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mode excels when you need to think before you act. It reads multiple files, understands relationships, and proposes a coherent plan. We used it for the schema migration — it identified all the files that needed to change and proposed the migration script.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mode is the workhorse. It generated most of the scripts in this project. The key insight: it can run code and see errors, so it iterates like a developer would. Give it specific instructions and let it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mode is your rubber duck. Use it to understand unfamiliar code or debug issues. It's read-only so it's safe — no accidental changes. Great pattern: Ask to understand → Plan to design → Agent to build.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challenges. VS Code crashes were the most painful — losing an entire conversation with context and decisions. The context window limit is real: after ~30 minutes of back-and-forth, quality drops. Our workaround: shorter sessions, commit often, use memory files.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tips from real experience. The memory files tip is huge — it gives Copilot persistent context about your project. Being specific with prompts is the single biggest quality lever. And always review the code.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Live Copilot usage. Start with Plan mode — ask it to design something. Review the plan. Switch to Agent and have it build. Show the iterative error-correction cycle. Show a memory file.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project timeline using commit history milestones. Each step built on the previous one. Emphasize: this wasn't planned up front — it evolved organically based on needs.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commit history tells a story of relentless refinement. Over 10 commits just for popup styling. This is normal and healthy — small incremental improvements compound. Git makes it safe to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retrospective. The data model evolved twice — getting it right first would have saved a migration. The Excel pipeline was a late addition that would have been valuable from the start. TypeScript would give Copilot better type context for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 slide with project stats. Update the [X] placeholders with real numbers before presenting. The zero-cost angle is compelling — this entire project runs for free on GitHub Pages.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future plans. The project isn't done — it evolves as the challenge continues. Open it up for ideas from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Open up for questions. Share the GitHub link and live map URL for anyone who wants to explore.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5181447" y="548640"/>
            <a:ext cx="1828800" cy="1828800"/>
          </a:xfrm>
          <a:prstGeom prst="rect">
            <a:avLst/>
          </a:prstGeom>
        </p:spPr>
      </p:pic>
      <p:sp>
        <p:nvSpPr>
          <p:cNvPr id="3" name="TextBox 2"/>
          <p:cNvSpPr txBox="1"/>
          <p:nvPr/>
        </p:nvSpPr>
        <p:spPr>
          <a:xfrm>
            <a:off x="914400" y="2743200"/>
            <a:ext cx="10332720" cy="1097280"/>
          </a:xfrm>
          <a:prstGeom prst="rect">
            <a:avLst/>
          </a:prstGeom>
          <a:noFill/>
        </p:spPr>
        <p:txBody>
          <a:bodyPr wrap="square">
            <a:spAutoFit/>
          </a:bodyPr>
          <a:lstStyle/>
          <a:p>
            <a:pPr algn="ctr">
              <a:defRPr sz="3600" b="1">
                <a:solidFill>
                  <a:srgbClr val="FFFFFF"/>
                </a:solidFill>
                <a:latin typeface="Calibri"/>
              </a:defRPr>
            </a:pPr>
            <a:r>
              <a:t>Building an Interactive Map to</a:t>
            </a:r>
            <a:br/>
            <a:r>
              <a:t>Eat Our Way Through New Jersey</a:t>
            </a:r>
          </a:p>
        </p:txBody>
      </p:sp>
      <p:sp>
        <p:nvSpPr>
          <p:cNvPr id="4" name="TextBox 3"/>
          <p:cNvSpPr txBox="1"/>
          <p:nvPr/>
        </p:nvSpPr>
        <p:spPr>
          <a:xfrm>
            <a:off x="914400" y="4114800"/>
            <a:ext cx="10332720" cy="457200"/>
          </a:xfrm>
          <a:prstGeom prst="rect">
            <a:avLst/>
          </a:prstGeom>
          <a:noFill/>
        </p:spPr>
        <p:txBody>
          <a:bodyPr wrap="square">
            <a:spAutoFit/>
          </a:bodyPr>
          <a:lstStyle/>
          <a:p>
            <a:pPr algn="ctr">
              <a:defRPr sz="1800" b="0">
                <a:solidFill>
                  <a:srgbClr val="FFD700"/>
                </a:solidFill>
                <a:latin typeface="Calibri"/>
              </a:defRPr>
            </a:pPr>
            <a:r>
              <a:t>A journey through 564 municipalities — one meal at a time</a:t>
            </a:r>
          </a:p>
        </p:txBody>
      </p:sp>
      <p:sp>
        <p:nvSpPr>
          <p:cNvPr id="5" name="TextBox 4"/>
          <p:cNvSpPr txBox="1"/>
          <p:nvPr/>
        </p:nvSpPr>
        <p:spPr>
          <a:xfrm>
            <a:off x="914400" y="5029200"/>
            <a:ext cx="10332720" cy="457200"/>
          </a:xfrm>
          <a:prstGeom prst="rect">
            <a:avLst/>
          </a:prstGeom>
          <a:noFill/>
        </p:spPr>
        <p:txBody>
          <a:bodyPr wrap="square">
            <a:spAutoFit/>
          </a:bodyPr>
          <a:lstStyle/>
          <a:p>
            <a:pPr algn="ctr">
              <a:defRPr sz="1400" b="0">
                <a:solidFill>
                  <a:srgbClr val="E0E0E0"/>
                </a:solidFill>
                <a:latin typeface="Calibri"/>
              </a:defRPr>
            </a:pPr>
            <a:r>
              <a:t>Lessons learned building with GitHub Copilot, Leaflet, and vanilla JavaScript</a:t>
            </a:r>
          </a:p>
        </p:txBody>
      </p:sp>
      <p:sp>
        <p:nvSpPr>
          <p:cNvPr id="6" name="TextBox 5"/>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What is the Eat Jersey Challenge?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VISION</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Visit a restaurant in every one of New Jersey's 564 municipalities</a:t>
            </a:r>
          </a:p>
          <a:p>
            <a:pPr>
              <a:spcAft>
                <a:spcPts val="600"/>
              </a:spcAft>
            </a:pPr>
            <a:r>
              <a:rPr sz="1600">
                <a:solidFill>
                  <a:srgbClr val="FFFFFF"/>
                </a:solidFill>
                <a:latin typeface="Calibri"/>
              </a:rPr>
              <a:t>  •  Share each visit on Instagram, TikTok, and Facebook</a:t>
            </a:r>
          </a:p>
          <a:p>
            <a:pPr>
              <a:spcAft>
                <a:spcPts val="600"/>
              </a:spcAft>
            </a:pPr>
            <a:r>
              <a:rPr sz="1600">
                <a:solidFill>
                  <a:srgbClr val="FFFFFF"/>
                </a:solidFill>
                <a:latin typeface="Calibri"/>
              </a:rPr>
              <a:t>  •  Document the journey — every borough, city, township, town, and village</a:t>
            </a:r>
          </a:p>
          <a:p>
            <a:pPr>
              <a:spcAft>
                <a:spcPts val="600"/>
              </a:spcAft>
            </a:pPr>
            <a:r>
              <a:rPr sz="1600">
                <a:solidFill>
                  <a:srgbClr val="FFFFFF"/>
                </a:solidFill>
                <a:latin typeface="Calibri"/>
              </a:rPr>
              <a:t>  •  564 towns across 21 counties — a massive undertaking</a:t>
            </a:r>
          </a:p>
          <a:p>
            <a:pPr>
              <a:spcAft>
                <a:spcPts val="600"/>
              </a:spcAft>
            </a:pPr>
            <a:r>
              <a:rPr sz="1600">
                <a:solidFill>
                  <a:srgbClr val="FFFFFF"/>
                </a:solidFill>
                <a:latin typeface="Calibri"/>
              </a:rPr>
              <a:t>  •  Started with a spreadsheet… but we needed something better</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The Vision: An Interactive Map</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VISION</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Colour-coded map:</a:t>
            </a:r>
            <a:r>
              <a:rPr sz="1600">
                <a:solidFill>
                  <a:srgbClr val="FFFFFF"/>
                </a:solidFill>
                <a:latin typeface="Calibri"/>
              </a:rPr>
              <a:t> gold = visited, grey = unvisited, orange = queued</a:t>
            </a:r>
          </a:p>
          <a:p>
            <a:pPr>
              <a:spcAft>
                <a:spcPts val="600"/>
              </a:spcAft>
            </a:pPr>
            <a:r>
              <a:rPr sz="1600">
                <a:solidFill>
                  <a:srgbClr val="FFFFFF"/>
                </a:solidFill>
                <a:latin typeface="Calibri"/>
              </a:rPr>
              <a:t>  •  Click any town to see restaurant, date, photos, and social links</a:t>
            </a:r>
          </a:p>
          <a:p>
            <a:pPr>
              <a:spcAft>
                <a:spcPts val="600"/>
              </a:spcAft>
            </a:pPr>
            <a:r>
              <a:rPr sz="1600">
                <a:solidFill>
                  <a:srgbClr val="FFFFFF"/>
                </a:solidFill>
                <a:latin typeface="Calibri"/>
              </a:rPr>
              <a:t>  •  Show progress at a glance — how much of NJ have we covered?</a:t>
            </a:r>
          </a:p>
          <a:p>
            <a:pPr>
              <a:spcAft>
                <a:spcPts val="600"/>
              </a:spcAft>
            </a:pPr>
            <a:r>
              <a:rPr sz="1600">
                <a:solidFill>
                  <a:srgbClr val="FFFFFF"/>
                </a:solidFill>
                <a:latin typeface="Calibri"/>
              </a:rPr>
              <a:t>  •  Share it publicly so friends and followers can explore</a:t>
            </a:r>
          </a:p>
          <a:p>
            <a:pPr>
              <a:spcAft>
                <a:spcPts val="600"/>
              </a:spcAft>
            </a:pPr>
            <a:r>
              <a:rPr sz="1600">
                <a:solidFill>
                  <a:srgbClr val="FFFFFF"/>
                </a:solidFill>
                <a:latin typeface="Calibri"/>
              </a:rPr>
              <a:t>  •  Replace the spreadsheet with something people actually want to look at</a:t>
            </a:r>
          </a:p>
        </p:txBody>
      </p:sp>
      <p:sp>
        <p:nvSpPr>
          <p:cNvPr id="7" name="Rectangle 6"/>
          <p:cNvSpPr/>
          <p:nvPr/>
        </p:nvSpPr>
        <p:spPr>
          <a:xfrm>
            <a:off x="2286000" y="3657600"/>
            <a:ext cx="7589520" cy="27432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Screenshot: Live map with visited/unvisited towns ]</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22"/>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ctr">
              <a:defRPr sz="3200" b="1">
                <a:solidFill>
                  <a:srgbClr val="FFD700"/>
                </a:solidFill>
                <a:latin typeface="Calibri"/>
              </a:defRPr>
            </a:pPr>
            <a:r>
              <a:t>DEMO: The Live Map</a:t>
            </a:r>
          </a:p>
        </p:txBody>
      </p:sp>
      <p:sp>
        <p:nvSpPr>
          <p:cNvPr id="4" name="Rectangle 3"/>
          <p:cNvSpPr/>
          <p:nvPr/>
        </p:nvSpPr>
        <p:spPr>
          <a:xfrm>
            <a:off x="1371600" y="1371600"/>
            <a:ext cx="9418320" cy="41148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Live Demo ]</a:t>
            </a:r>
          </a:p>
        </p:txBody>
      </p:sp>
      <p:sp>
        <p:nvSpPr>
          <p:cNvPr id="5" name="TextBox 4"/>
          <p:cNvSpPr txBox="1"/>
          <p:nvPr/>
        </p:nvSpPr>
        <p:spPr>
          <a:xfrm>
            <a:off x="1371600" y="5669280"/>
            <a:ext cx="9418320" cy="914400"/>
          </a:xfrm>
          <a:prstGeom prst="rect">
            <a:avLst/>
          </a:prstGeom>
          <a:noFill/>
        </p:spPr>
        <p:txBody>
          <a:bodyPr wrap="square">
            <a:spAutoFit/>
          </a:bodyPr>
          <a:lstStyle/>
          <a:p>
            <a:pPr>
              <a:spcAft>
                <a:spcPts val="600"/>
              </a:spcAft>
            </a:pPr>
            <a:r>
              <a:rPr sz="1300">
                <a:solidFill>
                  <a:srgbClr val="E0E0E0"/>
                </a:solidFill>
                <a:latin typeface="Calibri"/>
              </a:rPr>
              <a:t>  •  Show the map at full zoom — gold vs grey towns</a:t>
            </a:r>
          </a:p>
          <a:p>
            <a:pPr>
              <a:spcAft>
                <a:spcPts val="600"/>
              </a:spcAft>
            </a:pPr>
            <a:r>
              <a:rPr sz="1300">
                <a:solidFill>
                  <a:srgbClr val="E0E0E0"/>
                </a:solidFill>
                <a:latin typeface="Calibri"/>
              </a:rPr>
              <a:t>  •  Click a visited town to show the popup with restaurant, date, social links</a:t>
            </a:r>
          </a:p>
          <a:p>
            <a:pPr>
              <a:spcAft>
                <a:spcPts val="600"/>
              </a:spcAft>
            </a:pPr>
            <a:r>
              <a:rPr sz="1300">
                <a:solidFill>
                  <a:srgbClr val="E0E0E0"/>
                </a:solidFill>
                <a:latin typeface="Calibri"/>
              </a:rPr>
              <a:t>  •  Toggle the detail view to show queued (orange) and pre-challenge (purple)</a:t>
            </a:r>
          </a:p>
          <a:p>
            <a:pPr>
              <a:spcAft>
                <a:spcPts val="600"/>
              </a:spcAft>
            </a:pPr>
            <a:r>
              <a:rPr sz="1300">
                <a:solidFill>
                  <a:srgbClr val="E0E0E0"/>
                </a:solidFill>
                <a:latin typeface="Calibri"/>
              </a:rPr>
              <a:t>  •  Show the legend toggle</a:t>
            </a:r>
          </a:p>
        </p:txBody>
      </p:sp>
      <p:sp>
        <p:nvSpPr>
          <p:cNvPr id="6" name="TextBox 5"/>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VISION</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Technology Stack Overview</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4846320" cy="5303520"/>
          </a:xfrm>
          <a:prstGeom prst="rect">
            <a:avLst/>
          </a:prstGeom>
          <a:noFill/>
        </p:spPr>
        <p:txBody>
          <a:bodyPr wrap="square">
            <a:spAutoFit/>
          </a:bodyPr>
          <a:lstStyle/>
          <a:p>
            <a:pPr>
              <a:spcAft>
                <a:spcPts val="600"/>
              </a:spcAft>
            </a:pPr>
            <a:r>
              <a:rPr sz="1600" b="1">
                <a:solidFill>
                  <a:srgbClr val="FFD700"/>
                </a:solidFill>
                <a:latin typeface="Calibri"/>
              </a:rPr>
              <a:t>Frontend:</a:t>
            </a:r>
            <a:r>
              <a:rPr sz="1600">
                <a:solidFill>
                  <a:srgbClr val="FFFFFF"/>
                </a:solidFill>
                <a:latin typeface="Calibri"/>
              </a:rPr>
              <a:t> Vanilla JavaScript (ES5+)</a:t>
            </a:r>
          </a:p>
          <a:p>
            <a:pPr>
              <a:spcAft>
                <a:spcPts val="600"/>
              </a:spcAft>
            </a:pPr>
            <a:r>
              <a:rPr sz="1600" b="1">
                <a:solidFill>
                  <a:srgbClr val="FFD700"/>
                </a:solidFill>
                <a:latin typeface="Calibri"/>
              </a:rPr>
              <a:t>Mapping:</a:t>
            </a:r>
            <a:r>
              <a:rPr sz="1600">
                <a:solidFill>
                  <a:srgbClr val="FFFFFF"/>
                </a:solidFill>
                <a:latin typeface="Calibri"/>
              </a:rPr>
              <a:t> Leaflet.js 1.9 + OpenStreetMap</a:t>
            </a:r>
          </a:p>
          <a:p>
            <a:pPr>
              <a:spcAft>
                <a:spcPts val="600"/>
              </a:spcAft>
            </a:pPr>
            <a:r>
              <a:rPr sz="1600" b="1">
                <a:solidFill>
                  <a:srgbClr val="FFD700"/>
                </a:solidFill>
                <a:latin typeface="Calibri"/>
              </a:rPr>
              <a:t>Styling:</a:t>
            </a:r>
            <a:r>
              <a:rPr sz="1600">
                <a:solidFill>
                  <a:srgbClr val="FFFFFF"/>
                </a:solidFill>
                <a:latin typeface="Calibri"/>
              </a:rPr>
              <a:t> CSS3 — no preprocessors</a:t>
            </a:r>
          </a:p>
          <a:p>
            <a:pPr>
              <a:spcAft>
                <a:spcPts val="600"/>
              </a:spcAft>
            </a:pPr>
            <a:r>
              <a:rPr sz="1600" b="1">
                <a:solidFill>
                  <a:srgbClr val="FFD700"/>
                </a:solidFill>
                <a:latin typeface="Calibri"/>
              </a:rPr>
              <a:t>Icons:</a:t>
            </a:r>
            <a:r>
              <a:rPr sz="1600">
                <a:solidFill>
                  <a:srgbClr val="FFFFFF"/>
                </a:solidFill>
                <a:latin typeface="Calibri"/>
              </a:rPr>
              <a:t> Font Awesome 6.7 (social brands)</a:t>
            </a:r>
          </a:p>
        </p:txBody>
      </p:sp>
      <p:sp>
        <p:nvSpPr>
          <p:cNvPr id="7" name="TextBox 6"/>
          <p:cNvSpPr txBox="1"/>
          <p:nvPr/>
        </p:nvSpPr>
        <p:spPr>
          <a:xfrm>
            <a:off x="6400800" y="1005840"/>
            <a:ext cx="4846320" cy="5303520"/>
          </a:xfrm>
          <a:prstGeom prst="rect">
            <a:avLst/>
          </a:prstGeom>
          <a:noFill/>
        </p:spPr>
        <p:txBody>
          <a:bodyPr wrap="square">
            <a:spAutoFit/>
          </a:bodyPr>
          <a:lstStyle/>
          <a:p>
            <a:pPr>
              <a:spcAft>
                <a:spcPts val="600"/>
              </a:spcAft>
            </a:pPr>
            <a:r>
              <a:rPr sz="1600" b="1">
                <a:solidFill>
                  <a:srgbClr val="FFD700"/>
                </a:solidFill>
                <a:latin typeface="Calibri"/>
              </a:rPr>
              <a:t>Data:</a:t>
            </a:r>
            <a:r>
              <a:rPr sz="1600">
                <a:solidFill>
                  <a:srgbClr val="FFFFFF"/>
                </a:solidFill>
                <a:latin typeface="Calibri"/>
              </a:rPr>
              <a:t> Static JSON committed to Git</a:t>
            </a:r>
          </a:p>
          <a:p>
            <a:pPr>
              <a:spcAft>
                <a:spcPts val="600"/>
              </a:spcAft>
            </a:pPr>
            <a:r>
              <a:rPr sz="1600" b="1">
                <a:solidFill>
                  <a:srgbClr val="FFD700"/>
                </a:solidFill>
                <a:latin typeface="Calibri"/>
              </a:rPr>
              <a:t>Hosting:</a:t>
            </a:r>
            <a:r>
              <a:rPr sz="1600">
                <a:solidFill>
                  <a:srgbClr val="FFFFFF"/>
                </a:solidFill>
                <a:latin typeface="Calibri"/>
              </a:rPr>
              <a:t> GitHub Pages</a:t>
            </a:r>
          </a:p>
          <a:p>
            <a:pPr>
              <a:spcAft>
                <a:spcPts val="600"/>
              </a:spcAft>
            </a:pPr>
            <a:r>
              <a:rPr sz="1600" b="1">
                <a:solidFill>
                  <a:srgbClr val="FFD700"/>
                </a:solidFill>
                <a:latin typeface="Calibri"/>
              </a:rPr>
              <a:t>Scripts:</a:t>
            </a:r>
            <a:r>
              <a:rPr sz="1600">
                <a:solidFill>
                  <a:srgbClr val="FFFFFF"/>
                </a:solidFill>
                <a:latin typeface="Calibri"/>
              </a:rPr>
              <a:t> Node.js + Python 3</a:t>
            </a:r>
          </a:p>
          <a:p>
            <a:pPr>
              <a:spcAft>
                <a:spcPts val="600"/>
              </a:spcAft>
            </a:pPr>
            <a:r>
              <a:rPr sz="1600" b="1">
                <a:solidFill>
                  <a:srgbClr val="FFD700"/>
                </a:solidFill>
                <a:latin typeface="Calibri"/>
              </a:rPr>
              <a:t>CI/CD:</a:t>
            </a:r>
            <a:r>
              <a:rPr sz="1600">
                <a:solidFill>
                  <a:srgbClr val="FFFFFF"/>
                </a:solidFill>
                <a:latin typeface="Calibri"/>
              </a:rPr>
              <a:t> GitHub Actions</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Why No Framework?</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Zero frontend dependencies — no npm install for the website itself</a:t>
            </a:r>
          </a:p>
          <a:p>
            <a:pPr>
              <a:spcAft>
                <a:spcPts val="600"/>
              </a:spcAft>
            </a:pPr>
            <a:r>
              <a:rPr sz="1600">
                <a:solidFill>
                  <a:srgbClr val="FFFFFF"/>
                </a:solidFill>
                <a:latin typeface="Calibri"/>
              </a:rPr>
              <a:t>  •  No build step — edit HTML/JS/CSS and push; GitHub Pages does the rest</a:t>
            </a:r>
          </a:p>
          <a:p>
            <a:pPr>
              <a:spcAft>
                <a:spcPts val="600"/>
              </a:spcAft>
            </a:pPr>
            <a:r>
              <a:rPr sz="1600" b="1">
                <a:solidFill>
                  <a:srgbClr val="FFD700"/>
                </a:solidFill>
                <a:latin typeface="Calibri"/>
              </a:rPr>
              <a:t>Static-first:</a:t>
            </a:r>
            <a:r>
              <a:rPr sz="1600">
                <a:solidFill>
                  <a:srgbClr val="FFFFFF"/>
                </a:solidFill>
                <a:latin typeface="Calibri"/>
              </a:rPr>
              <a:t> all data is a JSON file versioned in Git</a:t>
            </a:r>
          </a:p>
          <a:p>
            <a:pPr>
              <a:spcAft>
                <a:spcPts val="600"/>
              </a:spcAft>
            </a:pPr>
            <a:r>
              <a:rPr sz="1600">
                <a:solidFill>
                  <a:srgbClr val="FFFFFF"/>
                </a:solidFill>
                <a:latin typeface="Calibri"/>
              </a:rPr>
              <a:t>  •  Lower maintenance burden — no dependency updates, no breaking changes</a:t>
            </a:r>
          </a:p>
          <a:p>
            <a:pPr>
              <a:spcAft>
                <a:spcPts val="600"/>
              </a:spcAft>
            </a:pPr>
            <a:r>
              <a:rPr sz="1600">
                <a:solidFill>
                  <a:srgbClr val="FFFFFF"/>
                </a:solidFill>
                <a:latin typeface="Calibri"/>
              </a:rPr>
              <a:t>  •  Perfect for a personal project that needs to last for years</a:t>
            </a:r>
          </a:p>
          <a:p>
            <a:pPr>
              <a:spcAft>
                <a:spcPts val="600"/>
              </a:spcAft>
            </a:pPr>
            <a:r>
              <a:rPr sz="1600">
                <a:solidFill>
                  <a:srgbClr val="FFFFFF"/>
                </a:solidFill>
                <a:latin typeface="Calibri"/>
              </a:rPr>
              <a:t>  •  When you don't need React, don't use React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How to Make a Map</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Leaflet.js:</a:t>
            </a:r>
            <a:r>
              <a:rPr sz="1600">
                <a:solidFill>
                  <a:srgbClr val="FFFFFF"/>
                </a:solidFill>
                <a:latin typeface="Calibri"/>
              </a:rPr>
              <a:t> lightweight open-source mapping library</a:t>
            </a:r>
          </a:p>
          <a:p>
            <a:pPr>
              <a:spcAft>
                <a:spcPts val="600"/>
              </a:spcAft>
            </a:pPr>
            <a:r>
              <a:rPr sz="1600" b="1">
                <a:solidFill>
                  <a:srgbClr val="FFD700"/>
                </a:solidFill>
                <a:latin typeface="Calibri"/>
              </a:rPr>
              <a:t>OpenStreetMap tiles:</a:t>
            </a:r>
            <a:r>
              <a:rPr sz="1600">
                <a:solidFill>
                  <a:srgbClr val="FFFFFF"/>
                </a:solidFill>
                <a:latin typeface="Calibri"/>
              </a:rPr>
              <a:t> free map imagery, no API key required</a:t>
            </a:r>
          </a:p>
          <a:p>
            <a:pPr>
              <a:spcAft>
                <a:spcPts val="600"/>
              </a:spcAft>
            </a:pPr>
            <a:r>
              <a:rPr sz="1600" b="1">
                <a:solidFill>
                  <a:srgbClr val="FFD700"/>
                </a:solidFill>
                <a:latin typeface="Calibri"/>
              </a:rPr>
              <a:t>GeoJSON:</a:t>
            </a:r>
            <a:r>
              <a:rPr sz="1600">
                <a:solidFill>
                  <a:srgbClr val="FFFFFF"/>
                </a:solidFill>
                <a:latin typeface="Calibri"/>
              </a:rPr>
              <a:t> NJ municipality boundary polygons from US Census Bureau</a:t>
            </a:r>
          </a:p>
          <a:p>
            <a:pPr>
              <a:spcAft>
                <a:spcPts val="600"/>
              </a:spcAft>
            </a:pPr>
            <a:r>
              <a:rPr sz="1600">
                <a:solidFill>
                  <a:srgbClr val="FFFFFF"/>
                </a:solidFill>
                <a:latin typeface="Calibri"/>
              </a:rPr>
              <a:t>  •  Each polygon keyed by GEOID — a unique 10-digit Census identifier</a:t>
            </a:r>
          </a:p>
          <a:p>
            <a:pPr>
              <a:spcAft>
                <a:spcPts val="600"/>
              </a:spcAft>
            </a:pPr>
            <a:r>
              <a:rPr sz="1600">
                <a:solidFill>
                  <a:srgbClr val="FFFFFF"/>
                </a:solidFill>
                <a:latin typeface="Calibri"/>
              </a:rPr>
              <a:t>  •  Colour each polygon based on visit status from our JSON data</a:t>
            </a:r>
          </a:p>
          <a:p>
            <a:pPr>
              <a:spcAft>
                <a:spcPts val="600"/>
              </a:spcAft>
            </a:pPr>
            <a:r>
              <a:rPr sz="1600">
                <a:solidFill>
                  <a:srgbClr val="FFFFFF"/>
                </a:solidFill>
                <a:latin typeface="Calibri"/>
              </a:rPr>
              <a:t>  •  Add click handlers to open rich popups with town details</a:t>
            </a:r>
          </a:p>
        </p:txBody>
      </p:sp>
      <p:sp>
        <p:nvSpPr>
          <p:cNvPr id="7" name="Rectangle 6"/>
          <p:cNvSpPr/>
          <p:nvPr/>
        </p:nvSpPr>
        <p:spPr>
          <a:xfrm>
            <a:off x="2286000" y="3657600"/>
            <a:ext cx="7589520" cy="27432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Diagram: Leaflet + OSM Tiles + GeoJSON = Interactive Map ]</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The Data Model</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municipalities.json:</a:t>
            </a:r>
            <a:r>
              <a:rPr sz="1600">
                <a:solidFill>
                  <a:srgbClr val="FFFFFF"/>
                </a:solidFill>
                <a:latin typeface="Calibri"/>
              </a:rPr>
              <a:t> flat object keyed by 10-digit GEOID</a:t>
            </a:r>
          </a:p>
          <a:p>
            <a:pPr>
              <a:spcAft>
                <a:spcPts val="600"/>
              </a:spcAft>
            </a:pPr>
            <a:r>
              <a:rPr sz="1600" b="1">
                <a:solidFill>
                  <a:srgbClr val="FFD700"/>
                </a:solidFill>
                <a:latin typeface="Calibri"/>
              </a:rPr>
              <a:t>Each entry:</a:t>
            </a:r>
            <a:r>
              <a:rPr sz="1600">
                <a:solidFill>
                  <a:srgbClr val="FFFFFF"/>
                </a:solidFill>
                <a:latin typeface="Calibri"/>
              </a:rPr>
              <a:t> name, county, townType, status, visitNumber</a:t>
            </a:r>
          </a:p>
          <a:p>
            <a:pPr>
              <a:spcAft>
                <a:spcPts val="600"/>
              </a:spcAft>
            </a:pPr>
            <a:r>
              <a:rPr sz="1600" b="1">
                <a:solidFill>
                  <a:srgbClr val="FFD700"/>
                </a:solidFill>
                <a:latin typeface="Calibri"/>
              </a:rPr>
              <a:t>Restaurant info:</a:t>
            </a:r>
            <a:r>
              <a:rPr sz="1600">
                <a:solidFill>
                  <a:srgbClr val="FFFFFF"/>
                </a:solidFill>
                <a:latin typeface="Calibri"/>
              </a:rPr>
              <a:t> restaurantName, dateVisited</a:t>
            </a:r>
          </a:p>
          <a:p>
            <a:pPr>
              <a:spcAft>
                <a:spcPts val="600"/>
              </a:spcAft>
            </a:pPr>
            <a:r>
              <a:rPr sz="1600" b="1">
                <a:solidFill>
                  <a:srgbClr val="FFD700"/>
                </a:solidFill>
                <a:latin typeface="Calibri"/>
              </a:rPr>
              <a:t>Links array:</a:t>
            </a:r>
            <a:r>
              <a:rPr sz="1600">
                <a:solidFill>
                  <a:srgbClr val="FFFFFF"/>
                </a:solidFill>
                <a:latin typeface="Calibri"/>
              </a:rPr>
              <a:t> [{category, platform, label, url}] — flexible &amp; extensible</a:t>
            </a:r>
          </a:p>
          <a:p>
            <a:pPr>
              <a:spcAft>
                <a:spcPts val="600"/>
              </a:spcAft>
            </a:pPr>
            <a:r>
              <a:rPr sz="1600" b="1">
                <a:solidFill>
                  <a:srgbClr val="FFD700"/>
                </a:solidFill>
                <a:latin typeface="Calibri"/>
              </a:rPr>
              <a:t>Status values:</a:t>
            </a:r>
            <a:r>
              <a:rPr sz="1600">
                <a:solidFill>
                  <a:srgbClr val="FFFFFF"/>
                </a:solidFill>
                <a:latin typeface="Calibri"/>
              </a:rPr>
              <a:t> visited | unvisited | queued | pre-challenge</a:t>
            </a:r>
          </a:p>
          <a:p>
            <a:pPr>
              <a:spcAft>
                <a:spcPts val="600"/>
              </a:spcAft>
            </a:pPr>
            <a:r>
              <a:rPr sz="1600">
                <a:solidFill>
                  <a:srgbClr val="FFFFFF"/>
                </a:solidFill>
                <a:latin typeface="Calibri"/>
              </a:rPr>
              <a:t>  •  Schema evolved from simple boolean 'visited' to rich multi-status model</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From Firebase to Static JSON</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Originally started with Firebase Firestore as the database</a:t>
            </a:r>
          </a:p>
          <a:p>
            <a:pPr>
              <a:spcAft>
                <a:spcPts val="600"/>
              </a:spcAft>
            </a:pPr>
            <a:r>
              <a:rPr sz="1600" b="1">
                <a:solidFill>
                  <a:srgbClr val="FFD700"/>
                </a:solidFill>
                <a:latin typeface="Calibri"/>
              </a:rPr>
              <a:t>Realized:</a:t>
            </a:r>
            <a:r>
              <a:rPr sz="1600">
                <a:solidFill>
                  <a:srgbClr val="FFFFFF"/>
                </a:solidFill>
                <a:latin typeface="Calibri"/>
              </a:rPr>
              <a:t> the data only changes when WE update it — no real-time needed</a:t>
            </a:r>
          </a:p>
          <a:p>
            <a:pPr>
              <a:spcAft>
                <a:spcPts val="600"/>
              </a:spcAft>
            </a:pPr>
            <a:r>
              <a:rPr sz="1600">
                <a:solidFill>
                  <a:srgbClr val="FFFFFF"/>
                </a:solidFill>
                <a:latin typeface="Calibri"/>
              </a:rPr>
              <a:t>  •  Removed Firebase entirely (visible in early commit history)</a:t>
            </a:r>
          </a:p>
          <a:p>
            <a:pPr>
              <a:spcAft>
                <a:spcPts val="600"/>
              </a:spcAft>
            </a:pPr>
            <a:r>
              <a:rPr sz="1600">
                <a:solidFill>
                  <a:srgbClr val="FFFFFF"/>
                </a:solidFill>
                <a:latin typeface="Calibri"/>
              </a:rPr>
              <a:t>  •  Static JSON = zero cost, zero auth, zero backend maintenance</a:t>
            </a:r>
          </a:p>
          <a:p>
            <a:pPr>
              <a:spcAft>
                <a:spcPts val="600"/>
              </a:spcAft>
            </a:pPr>
            <a:r>
              <a:rPr sz="1600">
                <a:solidFill>
                  <a:srgbClr val="FFFFFF"/>
                </a:solidFill>
                <a:latin typeface="Calibri"/>
              </a:rPr>
              <a:t>  •  Git versioning gives us full history of every data change for free</a:t>
            </a:r>
          </a:p>
          <a:p>
            <a:pPr>
              <a:spcAft>
                <a:spcPts val="600"/>
              </a:spcAft>
            </a:pPr>
            <a:r>
              <a:rPr sz="1600" b="1">
                <a:solidFill>
                  <a:srgbClr val="FFD700"/>
                </a:solidFill>
                <a:latin typeface="Calibri"/>
              </a:rPr>
              <a:t>Lesson:</a:t>
            </a:r>
            <a:r>
              <a:rPr sz="1600">
                <a:solidFill>
                  <a:srgbClr val="FFFFFF"/>
                </a:solidFill>
                <a:latin typeface="Calibri"/>
              </a:rPr>
              <a:t> don't add infrastructure you don't need</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22"/>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ctr">
              <a:defRPr sz="3200" b="1">
                <a:solidFill>
                  <a:srgbClr val="FFD700"/>
                </a:solidFill>
                <a:latin typeface="Calibri"/>
              </a:defRPr>
            </a:pPr>
            <a:r>
              <a:t>DEMO: Admin Panel &amp; Data Flow</a:t>
            </a:r>
          </a:p>
        </p:txBody>
      </p:sp>
      <p:sp>
        <p:nvSpPr>
          <p:cNvPr id="4" name="Rectangle 3"/>
          <p:cNvSpPr/>
          <p:nvPr/>
        </p:nvSpPr>
        <p:spPr>
          <a:xfrm>
            <a:off x="1371600" y="1371600"/>
            <a:ext cx="9418320" cy="41148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Live Demo ]</a:t>
            </a:r>
          </a:p>
        </p:txBody>
      </p:sp>
      <p:sp>
        <p:nvSpPr>
          <p:cNvPr id="5" name="TextBox 4"/>
          <p:cNvSpPr txBox="1"/>
          <p:nvPr/>
        </p:nvSpPr>
        <p:spPr>
          <a:xfrm>
            <a:off x="1371600" y="5669280"/>
            <a:ext cx="9418320" cy="914400"/>
          </a:xfrm>
          <a:prstGeom prst="rect">
            <a:avLst/>
          </a:prstGeom>
          <a:noFill/>
        </p:spPr>
        <p:txBody>
          <a:bodyPr wrap="square">
            <a:spAutoFit/>
          </a:bodyPr>
          <a:lstStyle/>
          <a:p>
            <a:pPr>
              <a:spcAft>
                <a:spcPts val="600"/>
              </a:spcAft>
            </a:pPr>
            <a:r>
              <a:rPr sz="1300">
                <a:solidFill>
                  <a:srgbClr val="E0E0E0"/>
                </a:solidFill>
                <a:latin typeface="Calibri"/>
              </a:rPr>
              <a:t>  •  Open admin.html — show the searchable town list</a:t>
            </a:r>
          </a:p>
          <a:p>
            <a:pPr>
              <a:spcAft>
                <a:spcPts val="600"/>
              </a:spcAft>
            </a:pPr>
            <a:r>
              <a:rPr sz="1300">
                <a:solidFill>
                  <a:srgbClr val="E0E0E0"/>
                </a:solidFill>
                <a:latin typeface="Calibri"/>
              </a:rPr>
              <a:t>  •  Click a town — show the edit modal with status, restaurant, links</a:t>
            </a:r>
          </a:p>
          <a:p>
            <a:pPr>
              <a:spcAft>
                <a:spcPts val="600"/>
              </a:spcAft>
            </a:pPr>
            <a:r>
              <a:rPr sz="1300">
                <a:solidFill>
                  <a:srgbClr val="E0E0E0"/>
                </a:solidFill>
                <a:latin typeface="Calibri"/>
              </a:rPr>
              <a:t>  •  Edit a field, save, then export JSON</a:t>
            </a:r>
          </a:p>
          <a:p>
            <a:pPr>
              <a:spcAft>
                <a:spcPts val="600"/>
              </a:spcAft>
            </a:pPr>
            <a:r>
              <a:rPr sz="1300">
                <a:solidFill>
                  <a:srgbClr val="E0E0E0"/>
                </a:solidFill>
                <a:latin typeface="Calibri"/>
              </a:rPr>
              <a:t>  •  Show the downloaded municipalities.json</a:t>
            </a:r>
          </a:p>
        </p:txBody>
      </p:sp>
      <p:sp>
        <p:nvSpPr>
          <p:cNvPr id="6" name="TextBox 5"/>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Importing Data from Excel</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Existing data lived in an Excel spreadsheet before the website</a:t>
            </a:r>
          </a:p>
          <a:p>
            <a:pPr>
              <a:spcAft>
                <a:spcPts val="600"/>
              </a:spcAft>
            </a:pPr>
            <a:r>
              <a:rPr sz="1600" b="1">
                <a:solidFill>
                  <a:srgbClr val="FFD700"/>
                </a:solidFill>
                <a:latin typeface="Calibri"/>
              </a:rPr>
              <a:t>Built a CSV-to-JSON import pipeline:</a:t>
            </a:r>
            <a:r>
              <a:rPr sz="1600">
                <a:solidFill>
                  <a:srgbClr val="FFFFFF"/>
                </a:solidFill>
                <a:latin typeface="Calibri"/>
              </a:rPr>
              <a:t> npm run import path/to/file.csv</a:t>
            </a:r>
          </a:p>
          <a:p>
            <a:pPr>
              <a:spcAft>
                <a:spcPts val="600"/>
              </a:spcAft>
            </a:pPr>
            <a:r>
              <a:rPr sz="1600">
                <a:solidFill>
                  <a:srgbClr val="FFFFFF"/>
                </a:solidFill>
                <a:latin typeface="Calibri"/>
              </a:rPr>
              <a:t>  •  Custom CSV parser handles quoted fields with embedded commas</a:t>
            </a:r>
          </a:p>
          <a:p>
            <a:pPr>
              <a:spcAft>
                <a:spcPts val="600"/>
              </a:spcAft>
            </a:pPr>
            <a:r>
              <a:rPr sz="1600">
                <a:solidFill>
                  <a:srgbClr val="FFFFFF"/>
                </a:solidFill>
                <a:latin typeface="Calibri"/>
              </a:rPr>
              <a:t>  •  Preserves 'orphaned' links — data added via admin that isn't in Excel</a:t>
            </a:r>
          </a:p>
          <a:p>
            <a:pPr>
              <a:spcAft>
                <a:spcPts val="600"/>
              </a:spcAft>
            </a:pPr>
            <a:r>
              <a:rPr sz="1600" b="1">
                <a:solidFill>
                  <a:srgbClr val="FFD700"/>
                </a:solidFill>
                <a:latin typeface="Calibri"/>
              </a:rPr>
              <a:t>Blank cell handling:</a:t>
            </a:r>
            <a:r>
              <a:rPr sz="1600">
                <a:solidFill>
                  <a:srgbClr val="FFFFFF"/>
                </a:solidFill>
                <a:latin typeface="Calibri"/>
              </a:rPr>
              <a:t> won't accidentally erase existing data on import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Generating an Excel Template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Python script:</a:t>
            </a:r>
            <a:r>
              <a:rPr sz="1600">
                <a:solidFill>
                  <a:srgbClr val="FFFFFF"/>
                </a:solidFill>
                <a:latin typeface="Calibri"/>
              </a:rPr>
              <a:t> npm run gen-template</a:t>
            </a:r>
          </a:p>
          <a:p>
            <a:pPr>
              <a:spcAft>
                <a:spcPts val="600"/>
              </a:spcAft>
            </a:pPr>
            <a:r>
              <a:rPr sz="1600">
                <a:solidFill>
                  <a:srgbClr val="FFFFFF"/>
                </a:solidFill>
                <a:latin typeface="Calibri"/>
              </a:rPr>
              <a:t>  •  Generates a full Excel workbook from municipalities.json</a:t>
            </a:r>
          </a:p>
          <a:p>
            <a:pPr>
              <a:spcAft>
                <a:spcPts val="600"/>
              </a:spcAft>
            </a:pPr>
            <a:r>
              <a:rPr sz="1600">
                <a:solidFill>
                  <a:srgbClr val="FFFFFF"/>
                </a:solidFill>
                <a:latin typeface="Calibri"/>
              </a:rPr>
              <a:t>  •  Pre-populated with all 564 towns and existing data</a:t>
            </a:r>
          </a:p>
          <a:p>
            <a:pPr>
              <a:spcAft>
                <a:spcPts val="600"/>
              </a:spcAft>
            </a:pPr>
            <a:r>
              <a:rPr sz="1600" b="1">
                <a:solidFill>
                  <a:srgbClr val="FFD700"/>
                </a:solidFill>
                <a:latin typeface="Calibri"/>
              </a:rPr>
              <a:t>Colour-coded columns:</a:t>
            </a:r>
            <a:r>
              <a:rPr sz="1600">
                <a:solidFill>
                  <a:srgbClr val="FFFFFF"/>
                </a:solidFill>
                <a:latin typeface="Calibri"/>
              </a:rPr>
              <a:t> identity, visit info, restaurant, social platforms</a:t>
            </a:r>
          </a:p>
          <a:p>
            <a:pPr>
              <a:spcAft>
                <a:spcPts val="600"/>
              </a:spcAft>
            </a:pPr>
            <a:r>
              <a:rPr sz="1600">
                <a:solidFill>
                  <a:srgbClr val="FFFFFF"/>
                </a:solidFill>
                <a:latin typeface="Calibri"/>
              </a:rPr>
              <a:t>  •  Summary sheet with live formulas showing progress by county</a:t>
            </a:r>
          </a:p>
          <a:p>
            <a:pPr>
              <a:spcAft>
                <a:spcPts val="600"/>
              </a:spcAft>
            </a:pPr>
            <a:r>
              <a:rPr sz="1600">
                <a:solidFill>
                  <a:srgbClr val="FFFFFF"/>
                </a:solidFill>
                <a:latin typeface="Calibri"/>
              </a:rPr>
              <a:t>  •  Auto-scales platform columns (2–5 slots per platform based on usage)</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Social Media Bulk Import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Instagram:</a:t>
            </a:r>
            <a:r>
              <a:rPr sz="1600">
                <a:solidFill>
                  <a:srgbClr val="FFFFFF"/>
                </a:solidFill>
                <a:latin typeface="Calibri"/>
              </a:rPr>
              <a:t> PostFox browser extension exports all posts as JSON</a:t>
            </a:r>
          </a:p>
          <a:p>
            <a:pPr>
              <a:spcAft>
                <a:spcPts val="600"/>
              </a:spcAft>
            </a:pPr>
            <a:r>
              <a:rPr sz="1600">
                <a:solidFill>
                  <a:srgbClr val="FFFFFF"/>
                </a:solidFill>
                <a:latin typeface="Calibri"/>
              </a:rPr>
              <a:t>  •  Python script parses export, matches posts to towns by visit number</a:t>
            </a:r>
          </a:p>
          <a:p>
            <a:pPr>
              <a:spcAft>
                <a:spcPts val="600"/>
              </a:spcAft>
            </a:pPr>
            <a:r>
              <a:rPr sz="1600" b="1">
                <a:solidFill>
                  <a:srgbClr val="FFD700"/>
                </a:solidFill>
                <a:latin typeface="Calibri"/>
              </a:rPr>
              <a:t>Facebook:</a:t>
            </a:r>
            <a:r>
              <a:rPr sz="1600">
                <a:solidFill>
                  <a:srgbClr val="FFFFFF"/>
                </a:solidFill>
                <a:latin typeface="Calibri"/>
              </a:rPr>
              <a:t> Graph API fetches page posts automatically</a:t>
            </a:r>
          </a:p>
          <a:p>
            <a:pPr>
              <a:spcAft>
                <a:spcPts val="600"/>
              </a:spcAft>
            </a:pPr>
            <a:r>
              <a:rPr sz="1600" b="1">
                <a:solidFill>
                  <a:srgbClr val="FFD700"/>
                </a:solidFill>
                <a:latin typeface="Calibri"/>
              </a:rPr>
              <a:t>Both scripts:</a:t>
            </a:r>
            <a:r>
              <a:rPr sz="1600">
                <a:solidFill>
                  <a:srgbClr val="FFFFFF"/>
                </a:solidFill>
                <a:latin typeface="Calibri"/>
              </a:rPr>
              <a:t> normalize labels ('NJ Town #N: Name'), create backups</a:t>
            </a:r>
          </a:p>
          <a:p>
            <a:pPr>
              <a:spcAft>
                <a:spcPts val="600"/>
              </a:spcAft>
            </a:pPr>
            <a:r>
              <a:rPr sz="1600">
                <a:solidFill>
                  <a:srgbClr val="FFFFFF"/>
                </a:solidFill>
                <a:latin typeface="Calibri"/>
              </a:rPr>
              <a:t>  •  Output populates Excel columns → re-import via CSV pipeline</a:t>
            </a:r>
          </a:p>
          <a:p>
            <a:pPr>
              <a:spcAft>
                <a:spcPts val="600"/>
              </a:spcAft>
            </a:pPr>
            <a:r>
              <a:rPr sz="1600" b="1">
                <a:solidFill>
                  <a:srgbClr val="FFD700"/>
                </a:solidFill>
                <a:latin typeface="Calibri"/>
              </a:rPr>
              <a:t>Result:</a:t>
            </a:r>
            <a:r>
              <a:rPr sz="1600">
                <a:solidFill>
                  <a:srgbClr val="FFFFFF"/>
                </a:solidFill>
                <a:latin typeface="Calibri"/>
              </a:rPr>
              <a:t> social links for every visited town, added in bulk</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Thumbnail Automation with GitHub Actions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Thumbnails:</a:t>
            </a:r>
            <a:r>
              <a:rPr sz="1600">
                <a:solidFill>
                  <a:srgbClr val="FFFFFF"/>
                </a:solidFill>
                <a:latin typeface="Calibri"/>
              </a:rPr>
              <a:t> Instagram post images shown in map popups</a:t>
            </a:r>
          </a:p>
          <a:p>
            <a:pPr>
              <a:spcAft>
                <a:spcPts val="600"/>
              </a:spcAft>
            </a:pPr>
            <a:r>
              <a:rPr sz="1600">
                <a:solidFill>
                  <a:srgbClr val="FFFFFF"/>
                </a:solidFill>
                <a:latin typeface="Calibri"/>
              </a:rPr>
              <a:t>  •  Script extracts shortcodes from Instagram URLs → downloads images</a:t>
            </a:r>
          </a:p>
          <a:p>
            <a:pPr>
              <a:spcAft>
                <a:spcPts val="600"/>
              </a:spcAft>
            </a:pPr>
            <a:r>
              <a:rPr sz="1600">
                <a:solidFill>
                  <a:srgbClr val="FFFFFF"/>
                </a:solidFill>
                <a:latin typeface="Calibri"/>
              </a:rPr>
              <a:t>  •  Images resized to 320px WebP using Sharp (Node.js)</a:t>
            </a:r>
          </a:p>
          <a:p>
            <a:pPr>
              <a:spcAft>
                <a:spcPts val="600"/>
              </a:spcAft>
            </a:pPr>
            <a:r>
              <a:rPr sz="1600" b="1">
                <a:solidFill>
                  <a:srgbClr val="FFD700"/>
                </a:solidFill>
                <a:latin typeface="Calibri"/>
              </a:rPr>
              <a:t>GitHub Actions workflow:</a:t>
            </a:r>
            <a:r>
              <a:rPr sz="1600">
                <a:solidFill>
                  <a:srgbClr val="FFFFFF"/>
                </a:solidFill>
                <a:latin typeface="Calibri"/>
              </a:rPr>
              <a:t> triggered when PostFox export is committed</a:t>
            </a:r>
          </a:p>
          <a:p>
            <a:pPr>
              <a:spcAft>
                <a:spcPts val="600"/>
              </a:spcAft>
            </a:pPr>
            <a:r>
              <a:rPr sz="1600">
                <a:solidFill>
                  <a:srgbClr val="FFFFFF"/>
                </a:solidFill>
                <a:latin typeface="Calibri"/>
              </a:rPr>
              <a:t>  •  Automatically fetches missing thumbnails and commits new .webp files</a:t>
            </a:r>
          </a:p>
          <a:p>
            <a:pPr>
              <a:spcAft>
                <a:spcPts val="600"/>
              </a:spcAft>
            </a:pPr>
            <a:r>
              <a:rPr sz="1600" b="1">
                <a:solidFill>
                  <a:srgbClr val="FFD700"/>
                </a:solidFill>
                <a:latin typeface="Calibri"/>
              </a:rPr>
              <a:t>Idempotent:</a:t>
            </a:r>
            <a:r>
              <a:rPr sz="1600">
                <a:solidFill>
                  <a:srgbClr val="FFFFFF"/>
                </a:solidFill>
                <a:latin typeface="Calibri"/>
              </a:rPr>
              <a:t> safe to re-run — already-downloaded images are skipped</a:t>
            </a:r>
          </a:p>
        </p:txBody>
      </p:sp>
      <p:sp>
        <p:nvSpPr>
          <p:cNvPr id="7" name="Rectangle 6"/>
          <p:cNvSpPr/>
          <p:nvPr/>
        </p:nvSpPr>
        <p:spPr>
          <a:xfrm>
            <a:off x="2286000" y="3657600"/>
            <a:ext cx="7589520" cy="27432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Screenshot: GitHub Actions workflow run ]</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Edge Cases &amp; Data Quirks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Ambiguous town names:</a:t>
            </a:r>
            <a:r>
              <a:rPr sz="1600">
                <a:solidFill>
                  <a:srgbClr val="FFFFFF"/>
                </a:solidFill>
                <a:latin typeface="Calibri"/>
              </a:rPr>
              <a:t> 4 towns named 'Washington' across different counties</a:t>
            </a:r>
          </a:p>
          <a:p>
            <a:pPr>
              <a:spcAft>
                <a:spcPts val="600"/>
              </a:spcAft>
            </a:pPr>
            <a:r>
              <a:rPr sz="1600" b="1">
                <a:solidFill>
                  <a:srgbClr val="FFD700"/>
                </a:solidFill>
                <a:latin typeface="Calibri"/>
              </a:rPr>
              <a:t>Solution:</a:t>
            </a:r>
            <a:r>
              <a:rPr sz="1600">
                <a:solidFill>
                  <a:srgbClr val="FFFFFF"/>
                </a:solidFill>
                <a:latin typeface="Calibri"/>
              </a:rPr>
              <a:t> maintain an ambiguousNames set, append county to Wikipedia links</a:t>
            </a:r>
          </a:p>
          <a:p>
            <a:pPr>
              <a:spcAft>
                <a:spcPts val="600"/>
              </a:spcAft>
            </a:pPr>
            <a:r>
              <a:rPr sz="1600" b="1">
                <a:solidFill>
                  <a:srgbClr val="FFD700"/>
                </a:solidFill>
                <a:latin typeface="Calibri"/>
              </a:rPr>
              <a:t>Schema migration:</a:t>
            </a:r>
            <a:r>
              <a:rPr sz="1600">
                <a:solidFill>
                  <a:srgbClr val="FFFFFF"/>
                </a:solidFill>
                <a:latin typeface="Calibri"/>
              </a:rPr>
              <a:t> v1 had boolean 'visited' → v2 has 4-status model</a:t>
            </a:r>
          </a:p>
          <a:p>
            <a:pPr>
              <a:spcAft>
                <a:spcPts val="600"/>
              </a:spcAft>
            </a:pPr>
            <a:r>
              <a:rPr sz="1600" b="1">
                <a:solidFill>
                  <a:srgbClr val="FFD700"/>
                </a:solidFill>
                <a:latin typeface="Calibri"/>
              </a:rPr>
              <a:t>Migration script:</a:t>
            </a:r>
            <a:r>
              <a:rPr sz="1600">
                <a:solidFill>
                  <a:srgbClr val="FFFFFF"/>
                </a:solidFill>
                <a:latin typeface="Calibri"/>
              </a:rPr>
              <a:t> scripts/migrate-schema-v2.js for backward compatibility</a:t>
            </a:r>
          </a:p>
          <a:p>
            <a:pPr>
              <a:spcAft>
                <a:spcPts val="600"/>
              </a:spcAft>
            </a:pPr>
            <a:r>
              <a:rPr sz="1600" b="1">
                <a:solidFill>
                  <a:srgbClr val="FFD700"/>
                </a:solidFill>
                <a:latin typeface="Calibri"/>
              </a:rPr>
              <a:t>SRI hash mismatch:</a:t>
            </a:r>
            <a:r>
              <a:rPr sz="1600">
                <a:solidFill>
                  <a:srgbClr val="FFFFFF"/>
                </a:solidFill>
                <a:latin typeface="Calibri"/>
              </a:rPr>
              <a:t> Leaflet CDN integrity hash changed unexpectedly</a:t>
            </a:r>
          </a:p>
          <a:p>
            <a:pPr>
              <a:spcAft>
                <a:spcPts val="600"/>
              </a:spcAft>
            </a:pPr>
            <a:r>
              <a:rPr sz="1600" b="1">
                <a:solidFill>
                  <a:srgbClr val="FFD700"/>
                </a:solidFill>
                <a:latin typeface="Calibri"/>
              </a:rPr>
              <a:t>GeoJSON size:</a:t>
            </a:r>
            <a:r>
              <a:rPr sz="1600">
                <a:solidFill>
                  <a:srgbClr val="FFFFFF"/>
                </a:solidFill>
                <a:latin typeface="Calibri"/>
              </a:rPr>
              <a:t> full NJ polygon file is large — lazy loading considerations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22"/>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ctr">
              <a:defRPr sz="3200" b="1">
                <a:solidFill>
                  <a:srgbClr val="FFD700"/>
                </a:solidFill>
                <a:latin typeface="Calibri"/>
              </a:defRPr>
            </a:pPr>
            <a:r>
              <a:t>DEMO: Excel Import Workflow</a:t>
            </a:r>
          </a:p>
        </p:txBody>
      </p:sp>
      <p:sp>
        <p:nvSpPr>
          <p:cNvPr id="4" name="Rectangle 3"/>
          <p:cNvSpPr/>
          <p:nvPr/>
        </p:nvSpPr>
        <p:spPr>
          <a:xfrm>
            <a:off x="1371600" y="1371600"/>
            <a:ext cx="9418320" cy="41148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Live Demo ]</a:t>
            </a:r>
          </a:p>
        </p:txBody>
      </p:sp>
      <p:sp>
        <p:nvSpPr>
          <p:cNvPr id="5" name="TextBox 4"/>
          <p:cNvSpPr txBox="1"/>
          <p:nvPr/>
        </p:nvSpPr>
        <p:spPr>
          <a:xfrm>
            <a:off x="1371600" y="5669280"/>
            <a:ext cx="9418320" cy="914400"/>
          </a:xfrm>
          <a:prstGeom prst="rect">
            <a:avLst/>
          </a:prstGeom>
          <a:noFill/>
        </p:spPr>
        <p:txBody>
          <a:bodyPr wrap="square">
            <a:spAutoFit/>
          </a:bodyPr>
          <a:lstStyle/>
          <a:p>
            <a:pPr>
              <a:spcAft>
                <a:spcPts val="600"/>
              </a:spcAft>
            </a:pPr>
            <a:r>
              <a:rPr sz="1300">
                <a:solidFill>
                  <a:srgbClr val="E0E0E0"/>
                </a:solidFill>
                <a:latin typeface="Calibri"/>
              </a:rPr>
              <a:t>  •  Show the generated Excel template (colour-coded columns, summary sheet)</a:t>
            </a:r>
          </a:p>
          <a:p>
            <a:pPr>
              <a:spcAft>
                <a:spcPts val="600"/>
              </a:spcAft>
            </a:pPr>
            <a:r>
              <a:rPr sz="1300">
                <a:solidFill>
                  <a:srgbClr val="E0E0E0"/>
                </a:solidFill>
                <a:latin typeface="Calibri"/>
              </a:rPr>
              <a:t>  •  Make a change in Excel — mark a town as visited</a:t>
            </a:r>
          </a:p>
          <a:p>
            <a:pPr>
              <a:spcAft>
                <a:spcPts val="600"/>
              </a:spcAft>
            </a:pPr>
            <a:r>
              <a:rPr sz="1300">
                <a:solidFill>
                  <a:srgbClr val="E0E0E0"/>
                </a:solidFill>
                <a:latin typeface="Calibri"/>
              </a:rPr>
              <a:t>  •  Export as CSV</a:t>
            </a:r>
          </a:p>
          <a:p>
            <a:pPr>
              <a:spcAft>
                <a:spcPts val="600"/>
              </a:spcAft>
            </a:pPr>
            <a:r>
              <a:rPr sz="1300">
                <a:solidFill>
                  <a:srgbClr val="E0E0E0"/>
                </a:solidFill>
                <a:latin typeface="Calibri"/>
              </a:rPr>
              <a:t>  •  Run: npm run import path/to/file.csv</a:t>
            </a:r>
          </a:p>
          <a:p>
            <a:pPr>
              <a:spcAft>
                <a:spcPts val="600"/>
              </a:spcAft>
            </a:pPr>
            <a:r>
              <a:rPr sz="1300">
                <a:solidFill>
                  <a:srgbClr val="E0E0E0"/>
                </a:solidFill>
                <a:latin typeface="Calibri"/>
              </a:rPr>
              <a:t>  •  Show the updated municipalities.json diff</a:t>
            </a:r>
          </a:p>
        </p:txBody>
      </p:sp>
      <p:sp>
        <p:nvSpPr>
          <p:cNvPr id="6" name="TextBox 5"/>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Vibe Coding: The Starting Point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The very first commit:</a:t>
            </a:r>
            <a:r>
              <a:rPr sz="1600">
                <a:solidFill>
                  <a:srgbClr val="FFFFFF"/>
                </a:solidFill>
                <a:latin typeface="Calibri"/>
              </a:rPr>
              <a:t> 'initial set of vibe coded files'</a:t>
            </a:r>
          </a:p>
          <a:p>
            <a:pPr>
              <a:spcAft>
                <a:spcPts val="600"/>
              </a:spcAft>
            </a:pPr>
            <a:r>
              <a:rPr sz="1600">
                <a:solidFill>
                  <a:srgbClr val="FFFFFF"/>
                </a:solidFill>
                <a:latin typeface="Calibri"/>
              </a:rPr>
              <a:t>  •  GitHub Copilot (Agent mode) generated the entire first version</a:t>
            </a:r>
          </a:p>
          <a:p>
            <a:pPr>
              <a:spcAft>
                <a:spcPts val="600"/>
              </a:spcAft>
            </a:pPr>
            <a:r>
              <a:rPr sz="1600">
                <a:solidFill>
                  <a:srgbClr val="FFFFFF"/>
                </a:solidFill>
                <a:latin typeface="Calibri"/>
              </a:rPr>
              <a:t>  •  HTML, CSS, JavaScript, even the initial data structure</a:t>
            </a:r>
          </a:p>
          <a:p>
            <a:pPr>
              <a:spcAft>
                <a:spcPts val="600"/>
              </a:spcAft>
            </a:pPr>
            <a:r>
              <a:rPr sz="1600">
                <a:solidFill>
                  <a:srgbClr val="FFFFFF"/>
                </a:solidFill>
                <a:latin typeface="Calibri"/>
              </a:rPr>
              <a:t>  •  From idea to working prototype in a single session</a:t>
            </a:r>
          </a:p>
          <a:p>
            <a:pPr>
              <a:spcAft>
                <a:spcPts val="600"/>
              </a:spcAft>
            </a:pPr>
            <a:r>
              <a:rPr sz="1600">
                <a:solidFill>
                  <a:srgbClr val="FFFFFF"/>
                </a:solidFill>
                <a:latin typeface="Calibri"/>
              </a:rPr>
              <a:t>  •  Not perfect — but a working starting point to iterate on</a:t>
            </a:r>
          </a:p>
          <a:p>
            <a:pPr>
              <a:spcAft>
                <a:spcPts val="600"/>
              </a:spcAft>
            </a:pPr>
            <a:r>
              <a:rPr sz="1600">
                <a:solidFill>
                  <a:srgbClr val="FFFFFF"/>
                </a:solidFill>
                <a:latin typeface="Calibri"/>
              </a:rPr>
              <a:t>  •  This is the promise of AI-assisted development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Three Modes of Copilot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Plan Mode:</a:t>
            </a:r>
            <a:r>
              <a:rPr sz="1600">
                <a:solidFill>
                  <a:srgbClr val="FFFFFF"/>
                </a:solidFill>
                <a:latin typeface="Calibri"/>
              </a:rPr>
              <a:t> research → propose → approve → execute</a:t>
            </a:r>
          </a:p>
          <a:p>
            <a:pPr>
              <a:spcAft>
                <a:spcPts val="600"/>
              </a:spcAft>
            </a:pPr>
            <a:r>
              <a:rPr sz="1600" b="1">
                <a:solidFill>
                  <a:srgbClr val="FFD700"/>
                </a:solidFill>
                <a:latin typeface="Calibri"/>
              </a:rPr>
              <a:t>Agent Mode:</a:t>
            </a:r>
            <a:r>
              <a:rPr sz="1600">
                <a:solidFill>
                  <a:srgbClr val="FFFFFF"/>
                </a:solidFill>
                <a:latin typeface="Calibri"/>
              </a:rPr>
              <a:t> autonomous implementation with tool access</a:t>
            </a:r>
          </a:p>
          <a:p>
            <a:pPr>
              <a:spcAft>
                <a:spcPts val="600"/>
              </a:spcAft>
            </a:pPr>
            <a:r>
              <a:rPr sz="1600" b="1">
                <a:solidFill>
                  <a:srgbClr val="FFD700"/>
                </a:solidFill>
                <a:latin typeface="Calibri"/>
              </a:rPr>
              <a:t>Ask Mode:</a:t>
            </a:r>
            <a:r>
              <a:rPr sz="1600">
                <a:solidFill>
                  <a:srgbClr val="FFFFFF"/>
                </a:solidFill>
                <a:latin typeface="Calibri"/>
              </a:rPr>
              <a:t> conversational Q&amp;A, read-only</a:t>
            </a:r>
          </a:p>
          <a:p>
            <a:pPr>
              <a:spcAft>
                <a:spcPts val="600"/>
              </a:spcAft>
            </a:pPr>
            <a:r>
              <a:rPr sz="1600">
                <a:solidFill>
                  <a:srgbClr val="FFFFFF"/>
                </a:solidFill>
                <a:latin typeface="Calibri"/>
              </a:rPr>
              <a:t>  •  Each mode has a sweet spot — choosing wisely saves time</a:t>
            </a:r>
          </a:p>
          <a:p>
            <a:pPr>
              <a:spcAft>
                <a:spcPts val="600"/>
              </a:spcAft>
            </a:pPr>
            <a:r>
              <a:rPr sz="1600" b="1">
                <a:solidFill>
                  <a:srgbClr val="FFD700"/>
                </a:solidFill>
                <a:latin typeface="Calibri"/>
              </a:rPr>
              <a:t>The real power:</a:t>
            </a:r>
            <a:r>
              <a:rPr sz="1600">
                <a:solidFill>
                  <a:srgbClr val="FFFFFF"/>
                </a:solidFill>
                <a:latin typeface="Calibri"/>
              </a:rPr>
              <a:t> chaining modes in a workflow</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Plan Mode Deep Dive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Best for:</a:t>
            </a:r>
            <a:r>
              <a:rPr sz="1600">
                <a:solidFill>
                  <a:srgbClr val="FFFFFF"/>
                </a:solidFill>
                <a:latin typeface="Calibri"/>
              </a:rPr>
              <a:t> architecture decisions and multi-file changes</a:t>
            </a:r>
          </a:p>
          <a:p>
            <a:pPr>
              <a:spcAft>
                <a:spcPts val="600"/>
              </a:spcAft>
            </a:pPr>
            <a:r>
              <a:rPr sz="1600">
                <a:solidFill>
                  <a:srgbClr val="FFFFFF"/>
                </a:solidFill>
                <a:latin typeface="Calibri"/>
              </a:rPr>
              <a:t>  •  Researches the codebase before proposing anything</a:t>
            </a:r>
          </a:p>
          <a:p>
            <a:pPr>
              <a:spcAft>
                <a:spcPts val="600"/>
              </a:spcAft>
            </a:pPr>
            <a:r>
              <a:rPr sz="1600">
                <a:solidFill>
                  <a:srgbClr val="FFFFFF"/>
                </a:solidFill>
                <a:latin typeface="Calibri"/>
              </a:rPr>
              <a:t>  •  Shows a step-by-step plan you can review and approve</a:t>
            </a:r>
          </a:p>
          <a:p>
            <a:pPr>
              <a:spcAft>
                <a:spcPts val="600"/>
              </a:spcAft>
            </a:pPr>
            <a:r>
              <a:rPr sz="1600" b="1">
                <a:solidFill>
                  <a:srgbClr val="FFD700"/>
                </a:solidFill>
                <a:latin typeface="Calibri"/>
              </a:rPr>
              <a:t>Example:</a:t>
            </a:r>
            <a:r>
              <a:rPr sz="1600">
                <a:solidFill>
                  <a:srgbClr val="FFFFFF"/>
                </a:solidFill>
                <a:latin typeface="Calibri"/>
              </a:rPr>
              <a:t> planning the schema migration from v1 to v2</a:t>
            </a:r>
          </a:p>
          <a:p>
            <a:pPr>
              <a:spcAft>
                <a:spcPts val="600"/>
              </a:spcAft>
            </a:pPr>
            <a:r>
              <a:rPr sz="1600" b="1">
                <a:solidFill>
                  <a:srgbClr val="FFD700"/>
                </a:solidFill>
                <a:latin typeface="Calibri"/>
              </a:rPr>
              <a:t>Example:</a:t>
            </a:r>
            <a:r>
              <a:rPr sz="1600">
                <a:solidFill>
                  <a:srgbClr val="FFFFFF"/>
                </a:solidFill>
                <a:latin typeface="Calibri"/>
              </a:rPr>
              <a:t> designing the Excel template generation script</a:t>
            </a:r>
          </a:p>
          <a:p>
            <a:pPr>
              <a:spcAft>
                <a:spcPts val="600"/>
              </a:spcAft>
            </a:pPr>
            <a:r>
              <a:rPr sz="1600" b="1">
                <a:solidFill>
                  <a:srgbClr val="FFD700"/>
                </a:solidFill>
                <a:latin typeface="Calibri"/>
              </a:rPr>
              <a:t>Tip:</a:t>
            </a:r>
            <a:r>
              <a:rPr sz="1600">
                <a:solidFill>
                  <a:srgbClr val="FFFFFF"/>
                </a:solidFill>
                <a:latin typeface="Calibri"/>
              </a:rPr>
              <a:t> use Plan mode when you're not sure HOW to approach a problem</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Agent Mode Deep Dive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Best for:</a:t>
            </a:r>
            <a:r>
              <a:rPr sz="1600">
                <a:solidFill>
                  <a:srgbClr val="FFFFFF"/>
                </a:solidFill>
                <a:latin typeface="Calibri"/>
              </a:rPr>
              <a:t> writing code, running scripts, iterating</a:t>
            </a:r>
          </a:p>
          <a:p>
            <a:pPr>
              <a:spcAft>
                <a:spcPts val="600"/>
              </a:spcAft>
            </a:pPr>
            <a:r>
              <a:rPr sz="1600">
                <a:solidFill>
                  <a:srgbClr val="FFFFFF"/>
                </a:solidFill>
                <a:latin typeface="Calibri"/>
              </a:rPr>
              <a:t>  •  Can edit files, run terminal commands, and respond to errors</a:t>
            </a:r>
          </a:p>
          <a:p>
            <a:pPr>
              <a:spcAft>
                <a:spcPts val="600"/>
              </a:spcAft>
            </a:pPr>
            <a:r>
              <a:rPr sz="1600">
                <a:solidFill>
                  <a:srgbClr val="FFFFFF"/>
                </a:solidFill>
                <a:latin typeface="Calibri"/>
              </a:rPr>
              <a:t>  •  Generated the bulk import scripts (Python and Node.js)</a:t>
            </a:r>
          </a:p>
          <a:p>
            <a:pPr>
              <a:spcAft>
                <a:spcPts val="600"/>
              </a:spcAft>
            </a:pPr>
            <a:r>
              <a:rPr sz="1600">
                <a:solidFill>
                  <a:srgbClr val="FFFFFF"/>
                </a:solidFill>
                <a:latin typeface="Calibri"/>
              </a:rPr>
              <a:t>  •  Built the admin panel UI from a description</a:t>
            </a:r>
          </a:p>
          <a:p>
            <a:pPr>
              <a:spcAft>
                <a:spcPts val="600"/>
              </a:spcAft>
            </a:pPr>
            <a:r>
              <a:rPr sz="1600" b="1">
                <a:solidFill>
                  <a:srgbClr val="FFD700"/>
                </a:solidFill>
                <a:latin typeface="Calibri"/>
              </a:rPr>
              <a:t>Iterative:</a:t>
            </a:r>
            <a:r>
              <a:rPr sz="1600">
                <a:solidFill>
                  <a:srgbClr val="FFFFFF"/>
                </a:solidFill>
                <a:latin typeface="Calibri"/>
              </a:rPr>
              <a:t> 'This doesn't work' → it reads the error → it fixes it</a:t>
            </a:r>
          </a:p>
          <a:p>
            <a:pPr>
              <a:spcAft>
                <a:spcPts val="600"/>
              </a:spcAft>
            </a:pPr>
            <a:r>
              <a:rPr sz="1600" b="1">
                <a:solidFill>
                  <a:srgbClr val="FFD700"/>
                </a:solidFill>
                <a:latin typeface="Calibri"/>
              </a:rPr>
              <a:t>Tip:</a:t>
            </a:r>
            <a:r>
              <a:rPr sz="1600">
                <a:solidFill>
                  <a:srgbClr val="FFFFFF"/>
                </a:solidFill>
                <a:latin typeface="Calibri"/>
              </a:rPr>
              <a:t> give it clear, specific instructions — don't be vague</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Ask Mode Deep Dive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Best for:</a:t>
            </a:r>
            <a:r>
              <a:rPr sz="1600">
                <a:solidFill>
                  <a:srgbClr val="FFFFFF"/>
                </a:solidFill>
                <a:latin typeface="Calibri"/>
              </a:rPr>
              <a:t> understanding code, quick questions, debugging</a:t>
            </a:r>
          </a:p>
          <a:p>
            <a:pPr>
              <a:spcAft>
                <a:spcPts val="600"/>
              </a:spcAft>
            </a:pPr>
            <a:r>
              <a:rPr sz="1600">
                <a:solidFill>
                  <a:srgbClr val="FFFFFF"/>
                </a:solidFill>
                <a:latin typeface="Calibri"/>
              </a:rPr>
              <a:t>  •  Read-only — doesn't change anything</a:t>
            </a:r>
          </a:p>
          <a:p>
            <a:pPr>
              <a:spcAft>
                <a:spcPts val="600"/>
              </a:spcAft>
            </a:pPr>
            <a:r>
              <a:rPr sz="1600">
                <a:solidFill>
                  <a:srgbClr val="FFFFFF"/>
                </a:solidFill>
                <a:latin typeface="Calibri"/>
              </a:rPr>
              <a:t>  •  'What does this function do?' → instant explanation</a:t>
            </a:r>
          </a:p>
          <a:p>
            <a:pPr>
              <a:spcAft>
                <a:spcPts val="600"/>
              </a:spcAft>
            </a:pPr>
            <a:r>
              <a:rPr sz="1600">
                <a:solidFill>
                  <a:srgbClr val="FFFFFF"/>
                </a:solidFill>
                <a:latin typeface="Calibri"/>
              </a:rPr>
              <a:t>  •  'Why is this polygon not rendering?' → targeted debugging help</a:t>
            </a:r>
          </a:p>
          <a:p>
            <a:pPr>
              <a:spcAft>
                <a:spcPts val="600"/>
              </a:spcAft>
            </a:pPr>
            <a:r>
              <a:rPr sz="1600" b="1">
                <a:solidFill>
                  <a:srgbClr val="FFD700"/>
                </a:solidFill>
                <a:latin typeface="Calibri"/>
              </a:rPr>
              <a:t>Great for onboarding:</a:t>
            </a:r>
            <a:r>
              <a:rPr sz="1600">
                <a:solidFill>
                  <a:srgbClr val="FFFFFF"/>
                </a:solidFill>
                <a:latin typeface="Calibri"/>
              </a:rPr>
              <a:t> 'Explain this codebase to me'</a:t>
            </a:r>
          </a:p>
          <a:p>
            <a:pPr>
              <a:spcAft>
                <a:spcPts val="600"/>
              </a:spcAft>
            </a:pPr>
            <a:r>
              <a:rPr sz="1600" b="1">
                <a:solidFill>
                  <a:srgbClr val="FFD700"/>
                </a:solidFill>
                <a:latin typeface="Calibri"/>
              </a:rPr>
              <a:t>Tip:</a:t>
            </a:r>
            <a:r>
              <a:rPr sz="1600">
                <a:solidFill>
                  <a:srgbClr val="FFFFFF"/>
                </a:solidFill>
                <a:latin typeface="Calibri"/>
              </a:rPr>
              <a:t> use Ask to understand before using Agent to change</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Copilot Pain Points &amp; Issues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VS Code crashes:</a:t>
            </a:r>
            <a:r>
              <a:rPr sz="1600">
                <a:solidFill>
                  <a:srgbClr val="FFFFFF"/>
                </a:solidFill>
                <a:latin typeface="Calibri"/>
              </a:rPr>
              <a:t> lost context window and conversation history</a:t>
            </a:r>
          </a:p>
          <a:p>
            <a:pPr>
              <a:spcAft>
                <a:spcPts val="600"/>
              </a:spcAft>
            </a:pPr>
            <a:r>
              <a:rPr sz="1600">
                <a:solidFill>
                  <a:srgbClr val="FFFFFF"/>
                </a:solidFill>
                <a:latin typeface="Calibri"/>
              </a:rPr>
              <a:t>  •  No way to recover a conversation after a crash</a:t>
            </a:r>
          </a:p>
          <a:p>
            <a:pPr>
              <a:spcAft>
                <a:spcPts val="600"/>
              </a:spcAft>
            </a:pPr>
            <a:r>
              <a:rPr sz="1600" b="1">
                <a:solidFill>
                  <a:srgbClr val="FFD700"/>
                </a:solidFill>
                <a:latin typeface="Calibri"/>
              </a:rPr>
              <a:t>Context window limits:</a:t>
            </a:r>
            <a:r>
              <a:rPr sz="1600">
                <a:solidFill>
                  <a:srgbClr val="FFFFFF"/>
                </a:solidFill>
                <a:latin typeface="Calibri"/>
              </a:rPr>
              <a:t> long sessions degrade response quality</a:t>
            </a:r>
          </a:p>
          <a:p>
            <a:pPr>
              <a:spcAft>
                <a:spcPts val="600"/>
              </a:spcAft>
            </a:pPr>
            <a:r>
              <a:rPr sz="1600">
                <a:solidFill>
                  <a:srgbClr val="FFFFFF"/>
                </a:solidFill>
                <a:latin typeface="Calibri"/>
              </a:rPr>
              <a:t>  •  Copilot sometimes 'forgets' earlier decisions in long conversations</a:t>
            </a:r>
          </a:p>
          <a:p>
            <a:pPr>
              <a:spcAft>
                <a:spcPts val="600"/>
              </a:spcAft>
            </a:pPr>
            <a:r>
              <a:rPr sz="1600">
                <a:solidFill>
                  <a:srgbClr val="FFFFFF"/>
                </a:solidFill>
                <a:latin typeface="Calibri"/>
              </a:rPr>
              <a:t>  •  Generated code needs review — it can introduce subtle bugs</a:t>
            </a:r>
          </a:p>
          <a:p>
            <a:pPr>
              <a:spcAft>
                <a:spcPts val="600"/>
              </a:spcAft>
            </a:pPr>
            <a:r>
              <a:rPr sz="1600" b="1">
                <a:solidFill>
                  <a:srgbClr val="FFD700"/>
                </a:solidFill>
                <a:latin typeface="Calibri"/>
              </a:rPr>
              <a:t>Workaround:</a:t>
            </a:r>
            <a:r>
              <a:rPr sz="1600">
                <a:solidFill>
                  <a:srgbClr val="FFFFFF"/>
                </a:solidFill>
                <a:latin typeface="Calibri"/>
              </a:rPr>
              <a:t> break work into smaller, focused sessions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Tips &amp; Best Practices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Use memory files:</a:t>
            </a:r>
            <a:r>
              <a:rPr sz="1600">
                <a:solidFill>
                  <a:srgbClr val="FFFFFF"/>
                </a:solidFill>
                <a:latin typeface="Calibri"/>
              </a:rPr>
              <a:t> .github/copilot-instructions.md for project context</a:t>
            </a:r>
          </a:p>
          <a:p>
            <a:pPr>
              <a:spcAft>
                <a:spcPts val="600"/>
              </a:spcAft>
            </a:pPr>
            <a:r>
              <a:rPr sz="1600">
                <a:solidFill>
                  <a:srgbClr val="FFFFFF"/>
                </a:solidFill>
                <a:latin typeface="Calibri"/>
              </a:rPr>
              <a:t>  •  Break large tasks into small, focused sessions</a:t>
            </a:r>
          </a:p>
          <a:p>
            <a:pPr>
              <a:spcAft>
                <a:spcPts val="600"/>
              </a:spcAft>
            </a:pPr>
            <a:r>
              <a:rPr sz="1600">
                <a:solidFill>
                  <a:srgbClr val="FFFFFF"/>
                </a:solidFill>
                <a:latin typeface="Calibri"/>
              </a:rPr>
              <a:t>  •  Commit frequently — you can always revert</a:t>
            </a:r>
          </a:p>
          <a:p>
            <a:pPr>
              <a:spcAft>
                <a:spcPts val="600"/>
              </a:spcAft>
            </a:pPr>
            <a:r>
              <a:rPr sz="1600" b="1">
                <a:solidFill>
                  <a:srgbClr val="FFD700"/>
                </a:solidFill>
                <a:latin typeface="Calibri"/>
              </a:rPr>
              <a:t>Be specific with prompts:</a:t>
            </a:r>
            <a:r>
              <a:rPr sz="1600">
                <a:solidFill>
                  <a:srgbClr val="FFFFFF"/>
                </a:solidFill>
                <a:latin typeface="Calibri"/>
              </a:rPr>
              <a:t> 'Add a gold border to visited polygons' &gt; 'Make it look better'</a:t>
            </a:r>
          </a:p>
          <a:p>
            <a:pPr>
              <a:spcAft>
                <a:spcPts val="600"/>
              </a:spcAft>
            </a:pPr>
            <a:r>
              <a:rPr sz="1600">
                <a:solidFill>
                  <a:srgbClr val="FFFFFF"/>
                </a:solidFill>
                <a:latin typeface="Calibri"/>
              </a:rPr>
              <a:t>  •  Review every line of generated code — trust but verify</a:t>
            </a:r>
          </a:p>
          <a:p>
            <a:pPr>
              <a:spcAft>
                <a:spcPts val="600"/>
              </a:spcAft>
            </a:pPr>
            <a:r>
              <a:rPr sz="1600">
                <a:solidFill>
                  <a:srgbClr val="FFFFFF"/>
                </a:solidFill>
                <a:latin typeface="Calibri"/>
              </a:rPr>
              <a:t>  •  Plan mode first, then Agent — don't jump straight to implementation</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22"/>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ctr">
              <a:defRPr sz="3200" b="1">
                <a:solidFill>
                  <a:srgbClr val="FFD700"/>
                </a:solidFill>
                <a:latin typeface="Calibri"/>
              </a:defRPr>
            </a:pPr>
            <a:r>
              <a:t>DEMO: GitHub Copilot in Action</a:t>
            </a:r>
          </a:p>
        </p:txBody>
      </p:sp>
      <p:sp>
        <p:nvSpPr>
          <p:cNvPr id="4" name="Rectangle 3"/>
          <p:cNvSpPr/>
          <p:nvPr/>
        </p:nvSpPr>
        <p:spPr>
          <a:xfrm>
            <a:off x="1371600" y="1371600"/>
            <a:ext cx="9418320" cy="41148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Live Demo ]</a:t>
            </a:r>
          </a:p>
        </p:txBody>
      </p:sp>
      <p:sp>
        <p:nvSpPr>
          <p:cNvPr id="5" name="TextBox 4"/>
          <p:cNvSpPr txBox="1"/>
          <p:nvPr/>
        </p:nvSpPr>
        <p:spPr>
          <a:xfrm>
            <a:off x="1371600" y="5669280"/>
            <a:ext cx="9418320" cy="914400"/>
          </a:xfrm>
          <a:prstGeom prst="rect">
            <a:avLst/>
          </a:prstGeom>
          <a:noFill/>
        </p:spPr>
        <p:txBody>
          <a:bodyPr wrap="square">
            <a:spAutoFit/>
          </a:bodyPr>
          <a:lstStyle/>
          <a:p>
            <a:pPr>
              <a:spcAft>
                <a:spcPts val="600"/>
              </a:spcAft>
            </a:pPr>
            <a:r>
              <a:rPr sz="1300">
                <a:solidFill>
                  <a:srgbClr val="E0E0E0"/>
                </a:solidFill>
                <a:latin typeface="Calibri"/>
              </a:rPr>
              <a:t>  •  Show a real Copilot conversation in VS Code</a:t>
            </a:r>
          </a:p>
          <a:p>
            <a:pPr>
              <a:spcAft>
                <a:spcPts val="600"/>
              </a:spcAft>
            </a:pPr>
            <a:r>
              <a:rPr sz="1300">
                <a:solidFill>
                  <a:srgbClr val="E0E0E0"/>
                </a:solidFill>
                <a:latin typeface="Calibri"/>
              </a:rPr>
              <a:t>  •  Demonstrate Plan mode: ask it to design a new feature</a:t>
            </a:r>
          </a:p>
          <a:p>
            <a:pPr>
              <a:spcAft>
                <a:spcPts val="600"/>
              </a:spcAft>
            </a:pPr>
            <a:r>
              <a:rPr sz="1300">
                <a:solidFill>
                  <a:srgbClr val="E0E0E0"/>
                </a:solidFill>
                <a:latin typeface="Calibri"/>
              </a:rPr>
              <a:t>  •  Switch to Agent mode: have it implement the plan</a:t>
            </a:r>
          </a:p>
          <a:p>
            <a:pPr>
              <a:spcAft>
                <a:spcPts val="600"/>
              </a:spcAft>
            </a:pPr>
            <a:r>
              <a:rPr sz="1300">
                <a:solidFill>
                  <a:srgbClr val="E0E0E0"/>
                </a:solidFill>
                <a:latin typeface="Calibri"/>
              </a:rPr>
              <a:t>  •  Show how it reads errors and self-corrects</a:t>
            </a:r>
          </a:p>
          <a:p>
            <a:pPr>
              <a:spcAft>
                <a:spcPts val="600"/>
              </a:spcAft>
            </a:pPr>
            <a:r>
              <a:rPr sz="1300">
                <a:solidFill>
                  <a:srgbClr val="E0E0E0"/>
                </a:solidFill>
                <a:latin typeface="Calibri"/>
              </a:rPr>
              <a:t>  •  Show a memory file and how it provides context</a:t>
            </a:r>
          </a:p>
        </p:txBody>
      </p:sp>
      <p:sp>
        <p:nvSpPr>
          <p:cNvPr id="6" name="TextBox 5"/>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Evolution Timeline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Initial commit → 'vibe coded files' — Copilot generates v1</a:t>
            </a:r>
          </a:p>
          <a:p>
            <a:pPr>
              <a:spcAft>
                <a:spcPts val="600"/>
              </a:spcAft>
            </a:pPr>
            <a:r>
              <a:rPr sz="1600">
                <a:solidFill>
                  <a:srgbClr val="FFFFFF"/>
                </a:solidFill>
                <a:latin typeface="Calibri"/>
              </a:rPr>
              <a:t>  •  Remove Firebase → pivot to static JSON architecture</a:t>
            </a:r>
          </a:p>
          <a:p>
            <a:pPr>
              <a:spcAft>
                <a:spcPts val="600"/>
              </a:spcAft>
            </a:pPr>
            <a:r>
              <a:rPr sz="1600">
                <a:solidFill>
                  <a:srgbClr val="FFFFFF"/>
                </a:solidFill>
                <a:latin typeface="Calibri"/>
              </a:rPr>
              <a:t>  •  Schema migration → boolean visited → 4-status model</a:t>
            </a:r>
          </a:p>
          <a:p>
            <a:pPr>
              <a:spcAft>
                <a:spcPts val="600"/>
              </a:spcAft>
            </a:pPr>
            <a:r>
              <a:rPr sz="1600">
                <a:solidFill>
                  <a:srgbClr val="FFFFFF"/>
                </a:solidFill>
                <a:latin typeface="Calibri"/>
              </a:rPr>
              <a:t>  •  Admin panel → visual editing without touching JSON</a:t>
            </a:r>
          </a:p>
          <a:p>
            <a:pPr>
              <a:spcAft>
                <a:spcPts val="600"/>
              </a:spcAft>
            </a:pPr>
            <a:r>
              <a:rPr sz="1600">
                <a:solidFill>
                  <a:srgbClr val="FFFFFF"/>
                </a:solidFill>
                <a:latin typeface="Calibri"/>
              </a:rPr>
              <a:t>  •  Excel import pipeline → bulk data management</a:t>
            </a:r>
          </a:p>
          <a:p>
            <a:pPr>
              <a:spcAft>
                <a:spcPts val="600"/>
              </a:spcAft>
            </a:pPr>
            <a:r>
              <a:rPr sz="1600">
                <a:solidFill>
                  <a:srgbClr val="FFFFFF"/>
                </a:solidFill>
                <a:latin typeface="Calibri"/>
              </a:rPr>
              <a:t>  •  Social media imports → Instagram &amp; Facebook automation</a:t>
            </a:r>
          </a:p>
          <a:p>
            <a:pPr>
              <a:spcAft>
                <a:spcPts val="600"/>
              </a:spcAft>
            </a:pPr>
            <a:r>
              <a:rPr sz="1600">
                <a:solidFill>
                  <a:srgbClr val="FFFFFF"/>
                </a:solidFill>
                <a:latin typeface="Calibri"/>
              </a:rPr>
              <a:t>  •  Thumbnail automation → GitHub Actions CI/CD</a:t>
            </a:r>
          </a:p>
          <a:p>
            <a:pPr>
              <a:spcAft>
                <a:spcPts val="600"/>
              </a:spcAft>
            </a:pPr>
            <a:r>
              <a:rPr sz="1600">
                <a:solidFill>
                  <a:srgbClr val="FFFFFF"/>
                </a:solidFill>
                <a:latin typeface="Calibri"/>
              </a:rPr>
              <a:t>  •  Iterative popup refinement → 10+ styling commits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The Power of Iterative Refinement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10+ commits just tweaking popup styles and thumbnail display</a:t>
            </a:r>
          </a:p>
          <a:p>
            <a:pPr>
              <a:spcAft>
                <a:spcPts val="600"/>
              </a:spcAft>
            </a:pPr>
            <a:r>
              <a:rPr sz="1600">
                <a:solidFill>
                  <a:srgbClr val="FFFFFF"/>
                </a:solidFill>
                <a:latin typeface="Calibri"/>
              </a:rPr>
              <a:t>  •  Font sizes, padding, overlay effects, hover states — small details</a:t>
            </a:r>
          </a:p>
          <a:p>
            <a:pPr>
              <a:spcAft>
                <a:spcPts val="600"/>
              </a:spcAft>
            </a:pPr>
            <a:r>
              <a:rPr sz="1600">
                <a:solidFill>
                  <a:srgbClr val="FFFFFF"/>
                </a:solidFill>
                <a:latin typeface="Calibri"/>
              </a:rPr>
              <a:t>  •  Each commit is small, focused, and reversible</a:t>
            </a:r>
          </a:p>
          <a:p>
            <a:pPr>
              <a:spcAft>
                <a:spcPts val="600"/>
              </a:spcAft>
            </a:pPr>
            <a:r>
              <a:rPr sz="1600">
                <a:solidFill>
                  <a:srgbClr val="FFFFFF"/>
                </a:solidFill>
                <a:latin typeface="Calibri"/>
              </a:rPr>
              <a:t>  •  Don't try to get it perfect the first time — iterate</a:t>
            </a:r>
          </a:p>
          <a:p>
            <a:pPr>
              <a:spcAft>
                <a:spcPts val="600"/>
              </a:spcAft>
            </a:pPr>
            <a:r>
              <a:rPr sz="1600" b="1">
                <a:solidFill>
                  <a:srgbClr val="FFD700"/>
                </a:solidFill>
                <a:latin typeface="Calibri"/>
              </a:rPr>
              <a:t>Git makes this safe:</a:t>
            </a:r>
            <a:r>
              <a:rPr sz="1600">
                <a:solidFill>
                  <a:srgbClr val="FFFFFF"/>
                </a:solidFill>
                <a:latin typeface="Calibri"/>
              </a:rPr>
              <a:t> every change is a commit you can revert</a:t>
            </a:r>
          </a:p>
          <a:p>
            <a:pPr>
              <a:spcAft>
                <a:spcPts val="600"/>
              </a:spcAft>
            </a:pPr>
            <a:r>
              <a:rPr sz="1600" b="1">
                <a:solidFill>
                  <a:srgbClr val="FFD700"/>
                </a:solidFill>
                <a:latin typeface="Calibri"/>
              </a:rPr>
              <a:t>AI-assisted iteration:</a:t>
            </a:r>
            <a:r>
              <a:rPr sz="1600">
                <a:solidFill>
                  <a:srgbClr val="FFFFFF"/>
                </a:solidFill>
                <a:latin typeface="Calibri"/>
              </a:rPr>
              <a:t> 'Make the font smaller' → instant result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What I'd Do Differently</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Start with the data model — get that right first</a:t>
            </a:r>
          </a:p>
          <a:p>
            <a:pPr>
              <a:spcAft>
                <a:spcPts val="600"/>
              </a:spcAft>
            </a:pPr>
            <a:r>
              <a:rPr sz="1600">
                <a:solidFill>
                  <a:srgbClr val="FFFFFF"/>
                </a:solidFill>
                <a:latin typeface="Calibri"/>
              </a:rPr>
              <a:t>  •  Set up the Excel pipeline earlier — bulk entry saves hours</a:t>
            </a:r>
          </a:p>
          <a:p>
            <a:pPr>
              <a:spcAft>
                <a:spcPts val="600"/>
              </a:spcAft>
            </a:pPr>
            <a:r>
              <a:rPr sz="1600">
                <a:solidFill>
                  <a:srgbClr val="FFFFFF"/>
                </a:solidFill>
                <a:latin typeface="Calibri"/>
              </a:rPr>
              <a:t>  •  Use TypeScript or JSDoc for better Copilot suggestions</a:t>
            </a:r>
          </a:p>
          <a:p>
            <a:pPr>
              <a:spcAft>
                <a:spcPts val="600"/>
              </a:spcAft>
            </a:pPr>
            <a:r>
              <a:rPr sz="1600">
                <a:solidFill>
                  <a:srgbClr val="FFFFFF"/>
                </a:solidFill>
                <a:latin typeface="Calibri"/>
              </a:rPr>
              <a:t>  •  Add basic tests — even for a personal project</a:t>
            </a:r>
          </a:p>
          <a:p>
            <a:pPr>
              <a:spcAft>
                <a:spcPts val="600"/>
              </a:spcAft>
            </a:pPr>
            <a:r>
              <a:rPr sz="1600">
                <a:solidFill>
                  <a:srgbClr val="FFFFFF"/>
                </a:solidFill>
                <a:latin typeface="Calibri"/>
              </a:rPr>
              <a:t>  •  Document decisions as you go — not after the fact</a:t>
            </a:r>
          </a:p>
          <a:p>
            <a:pPr>
              <a:spcAft>
                <a:spcPts val="600"/>
              </a:spcAft>
            </a:pPr>
            <a:r>
              <a:rPr sz="1600">
                <a:solidFill>
                  <a:srgbClr val="FFFFFF"/>
                </a:solidFill>
                <a:latin typeface="Calibri"/>
              </a:rPr>
              <a:t>  •  Shorter Copilot sessions from day one to avoid context loss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By the Numbers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564 municipalities in New Jersey</a:t>
            </a:r>
          </a:p>
          <a:p>
            <a:pPr>
              <a:spcAft>
                <a:spcPts val="600"/>
              </a:spcAft>
            </a:pPr>
            <a:r>
              <a:rPr sz="1600">
                <a:solidFill>
                  <a:srgbClr val="FFFFFF"/>
                </a:solidFill>
                <a:latin typeface="Calibri"/>
              </a:rPr>
              <a:t>  •  [X] towns visited so far</a:t>
            </a:r>
          </a:p>
          <a:p>
            <a:pPr>
              <a:spcAft>
                <a:spcPts val="600"/>
              </a:spcAft>
            </a:pPr>
            <a:r>
              <a:rPr sz="1600">
                <a:solidFill>
                  <a:srgbClr val="FFFFFF"/>
                </a:solidFill>
                <a:latin typeface="Calibri"/>
              </a:rPr>
              <a:t>  •  [X] commits in the repository</a:t>
            </a:r>
          </a:p>
          <a:p>
            <a:pPr>
              <a:spcAft>
                <a:spcPts val="600"/>
              </a:spcAft>
            </a:pPr>
            <a:r>
              <a:rPr sz="1600">
                <a:solidFill>
                  <a:srgbClr val="FFFFFF"/>
                </a:solidFill>
                <a:latin typeface="Calibri"/>
              </a:rPr>
              <a:t>  •  0 frameworks, 0 build tools, 0 monthly hosting cost</a:t>
            </a:r>
          </a:p>
          <a:p>
            <a:pPr>
              <a:spcAft>
                <a:spcPts val="600"/>
              </a:spcAft>
            </a:pPr>
            <a:r>
              <a:rPr sz="1600">
                <a:solidFill>
                  <a:srgbClr val="FFFFFF"/>
                </a:solidFill>
                <a:latin typeface="Calibri"/>
              </a:rPr>
              <a:t>  •  ~2,500 lines of JavaScript (map.js + admin.js + config.js)</a:t>
            </a:r>
          </a:p>
          <a:p>
            <a:pPr>
              <a:spcAft>
                <a:spcPts val="600"/>
              </a:spcAft>
            </a:pPr>
            <a:r>
              <a:rPr sz="1600">
                <a:solidFill>
                  <a:srgbClr val="FFFFFF"/>
                </a:solidFill>
                <a:latin typeface="Calibri"/>
              </a:rPr>
              <a:t>  •  6 automation scripts (Node.js + Python)</a:t>
            </a:r>
          </a:p>
          <a:p>
            <a:pPr>
              <a:spcAft>
                <a:spcPts val="600"/>
              </a:spcAft>
            </a:pPr>
            <a:r>
              <a:rPr sz="1600">
                <a:solidFill>
                  <a:srgbClr val="FFFFFF"/>
                </a:solidFill>
                <a:latin typeface="Calibri"/>
              </a:rPr>
              <a:t>  •  1 GitHub Actions workflow</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What's Next?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Continue visiting — 564 towns is a multi-year journey</a:t>
            </a:r>
          </a:p>
          <a:p>
            <a:pPr>
              <a:spcAft>
                <a:spcPts val="600"/>
              </a:spcAft>
            </a:pPr>
            <a:r>
              <a:rPr sz="1600">
                <a:solidFill>
                  <a:srgbClr val="FFFFFF"/>
                </a:solidFill>
                <a:latin typeface="Calibri"/>
              </a:rPr>
              <a:t>  •  Add county-level progress visualization</a:t>
            </a:r>
          </a:p>
          <a:p>
            <a:pPr>
              <a:spcAft>
                <a:spcPts val="600"/>
              </a:spcAft>
            </a:pPr>
            <a:r>
              <a:rPr sz="1600">
                <a:solidFill>
                  <a:srgbClr val="FFFFFF"/>
                </a:solidFill>
                <a:latin typeface="Calibri"/>
              </a:rPr>
              <a:t>  •  Implement search/filter on the public map</a:t>
            </a:r>
          </a:p>
          <a:p>
            <a:pPr>
              <a:spcAft>
                <a:spcPts val="600"/>
              </a:spcAft>
            </a:pPr>
            <a:r>
              <a:rPr sz="1600">
                <a:solidFill>
                  <a:srgbClr val="FFFFFF"/>
                </a:solidFill>
                <a:latin typeface="Calibri"/>
              </a:rPr>
              <a:t>  •  Mobile-friendly improvements</a:t>
            </a:r>
          </a:p>
          <a:p>
            <a:pPr>
              <a:spcAft>
                <a:spcPts val="600"/>
              </a:spcAft>
            </a:pPr>
            <a:r>
              <a:rPr sz="1600">
                <a:solidFill>
                  <a:srgbClr val="FFFFFF"/>
                </a:solidFill>
                <a:latin typeface="Calibri"/>
              </a:rPr>
              <a:t>  •  User submissions? Community contributions?</a:t>
            </a:r>
          </a:p>
          <a:p>
            <a:pPr>
              <a:spcAft>
                <a:spcPts val="600"/>
              </a:spcAft>
            </a:pPr>
            <a:r>
              <a:rPr sz="1600">
                <a:solidFill>
                  <a:srgbClr val="FFFFFF"/>
                </a:solidFill>
                <a:latin typeface="Calibri"/>
              </a:rPr>
              <a:t>  •  The website grows with the challenge</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5272887" y="731520"/>
            <a:ext cx="1645920" cy="1645920"/>
          </a:xfrm>
          <a:prstGeom prst="rect">
            <a:avLst/>
          </a:prstGeom>
        </p:spPr>
      </p:pic>
      <p:sp>
        <p:nvSpPr>
          <p:cNvPr id="3" name="TextBox 2"/>
          <p:cNvSpPr txBox="1"/>
          <p:nvPr/>
        </p:nvSpPr>
        <p:spPr>
          <a:xfrm>
            <a:off x="914400" y="2926080"/>
            <a:ext cx="10332720" cy="731520"/>
          </a:xfrm>
          <a:prstGeom prst="rect">
            <a:avLst/>
          </a:prstGeom>
          <a:noFill/>
        </p:spPr>
        <p:txBody>
          <a:bodyPr wrap="square">
            <a:spAutoFit/>
          </a:bodyPr>
          <a:lstStyle/>
          <a:p>
            <a:pPr algn="ctr">
              <a:defRPr sz="4000" b="1">
                <a:solidFill>
                  <a:srgbClr val="FFD700"/>
                </a:solidFill>
                <a:latin typeface="Calibri"/>
              </a:defRPr>
            </a:pPr>
            <a:r>
              <a:t>Thank You!</a:t>
            </a:r>
          </a:p>
        </p:txBody>
      </p:sp>
      <p:sp>
        <p:nvSpPr>
          <p:cNvPr id="4" name="TextBox 3"/>
          <p:cNvSpPr txBox="1"/>
          <p:nvPr/>
        </p:nvSpPr>
        <p:spPr>
          <a:xfrm>
            <a:off x="914400" y="3840480"/>
            <a:ext cx="10332720" cy="457200"/>
          </a:xfrm>
          <a:prstGeom prst="rect">
            <a:avLst/>
          </a:prstGeom>
          <a:noFill/>
        </p:spPr>
        <p:txBody>
          <a:bodyPr wrap="square">
            <a:spAutoFit/>
          </a:bodyPr>
          <a:lstStyle/>
          <a:p>
            <a:pPr algn="ctr">
              <a:defRPr sz="2400" b="0">
                <a:solidFill>
                  <a:srgbClr val="FFFFFF"/>
                </a:solidFill>
                <a:latin typeface="Calibri"/>
              </a:defRPr>
            </a:pPr>
            <a:r>
              <a:t>Questions?</a:t>
            </a:r>
          </a:p>
        </p:txBody>
      </p:sp>
      <p:sp>
        <p:nvSpPr>
          <p:cNvPr id="5" name="TextBox 4"/>
          <p:cNvSpPr txBox="1"/>
          <p:nvPr/>
        </p:nvSpPr>
        <p:spPr>
          <a:xfrm>
            <a:off x="2743200" y="4754880"/>
            <a:ext cx="6675120" cy="1371600"/>
          </a:xfrm>
          <a:prstGeom prst="rect">
            <a:avLst/>
          </a:prstGeom>
          <a:noFill/>
        </p:spPr>
        <p:txBody>
          <a:bodyPr wrap="square">
            <a:spAutoFit/>
          </a:bodyPr>
          <a:lstStyle/>
          <a:p>
            <a:pPr>
              <a:spcAft>
                <a:spcPts val="600"/>
              </a:spcAft>
            </a:pPr>
            <a:r>
              <a:rPr sz="1600">
                <a:solidFill>
                  <a:srgbClr val="E0E0E0"/>
                </a:solidFill>
                <a:latin typeface="Calibri"/>
              </a:rPr>
              <a:t>  •  GitHub: github.com/jrzyshr/eatjerseychallenge</a:t>
            </a:r>
          </a:p>
          <a:p>
            <a:pPr>
              <a:spcAft>
                <a:spcPts val="600"/>
              </a:spcAft>
            </a:pPr>
            <a:r>
              <a:rPr sz="1600">
                <a:solidFill>
                  <a:srgbClr val="E0E0E0"/>
                </a:solidFill>
                <a:latin typeface="Calibri"/>
              </a:rPr>
              <a:t>  •  Live map: [your GitHub Pages URL]</a:t>
            </a:r>
          </a:p>
        </p:txBody>
      </p:sp>
      <p:sp>
        <p:nvSpPr>
          <p:cNvPr id="6" name="TextBox 5"/>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